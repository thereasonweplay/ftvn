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8" r:id="rId20"/>
    <p:sldId id="275" r:id="rId21"/>
    <p:sldId id="279" r:id="rId22"/>
    <p:sldId id="276" r:id="rId23"/>
    <p:sldId id="277" r:id="rId24"/>
    <p:sldId id="274" r:id="rId25"/>
    <p:sldId id="280" r:id="rId26"/>
  </p:sldIdLst>
  <p:sldSz cx="12192000" cy="6858000"/>
  <p:notesSz cx="6858000" cy="9144000"/>
  <p:defaultTextStyle>
    <a:defPPr>
      <a:defRPr lang="fr-M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E2CC"/>
    <a:srgbClr val="007380"/>
    <a:srgbClr val="003D5B"/>
    <a:srgbClr val="99E4DC"/>
    <a:srgbClr val="3C91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365" y="547"/>
      </p:cViewPr>
      <p:guideLst>
        <p:guide orient="horz" pos="2115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27DF73-6ECF-483E-A9AC-0ECB9A86E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4EC737-74C7-48D6-BBD3-E67B886D4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AFB0EE-271E-43B9-AAC8-162A81B3B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6D000-2BC3-4F38-B2AE-FB81FEE2E0E7}" type="datetimeFigureOut">
              <a:rPr lang="fr-MG" smtClean="0"/>
              <a:t>14/01/2026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AB3D0C-1716-41BD-8466-843AC03D4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2AAC9A-901D-4CE9-A838-C075E05F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139F-E76A-48E6-A49D-22187140F8B3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760580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3CBC88-89ED-4592-AE68-F03137FF3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30E71E-F2DE-409A-B8D8-16657EBD9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260A53-3002-4DD6-9E70-BAB421803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6D000-2BC3-4F38-B2AE-FB81FEE2E0E7}" type="datetimeFigureOut">
              <a:rPr lang="fr-MG" smtClean="0"/>
              <a:t>14/01/2026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75FF5C-827E-4E30-BFB6-3F92ED0C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843C7D-79B5-4CB1-B938-80830374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139F-E76A-48E6-A49D-22187140F8B3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129327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2718E8-A3AF-480F-A3A2-89ABE886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949648-09E0-4AF9-BFF9-CFBF1B44E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132B17-18BA-4441-BA34-F27F02277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6D000-2BC3-4F38-B2AE-FB81FEE2E0E7}" type="datetimeFigureOut">
              <a:rPr lang="fr-MG" smtClean="0"/>
              <a:t>14/01/2026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45C1BC-342F-40EB-BB6E-AF7707E82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C77307-38FF-48A6-8A15-0FF886A0B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139F-E76A-48E6-A49D-22187140F8B3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911241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3A7385-73E9-4A49-AA03-EE24A94C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DE4468-37D4-4521-A39E-D006957C9D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0B3964-3E14-45AC-94B4-AE994DE78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91DEE02-1D33-46A4-8E6C-F44F37E57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6D000-2BC3-4F38-B2AE-FB81FEE2E0E7}" type="datetimeFigureOut">
              <a:rPr lang="fr-MG" smtClean="0"/>
              <a:t>14/01/2026</a:t>
            </a:fld>
            <a:endParaRPr lang="fr-M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8DD697-11D2-46AA-87AF-3E774D731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4DE2DD-5CAD-4E61-AA24-8349C125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139F-E76A-48E6-A49D-22187140F8B3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426898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5D261A-A618-4EC6-B5F2-6BFB3E278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AE695F-B5C1-41D7-9107-52CF8BB80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4A6787-555B-42AC-B38C-37A6347B5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0545CB6-37A5-4256-9204-B6E98F3A2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E92EBA6-2218-471C-9494-555BB85CB7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D17177C-2032-4883-AC07-A79D9416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6D000-2BC3-4F38-B2AE-FB81FEE2E0E7}" type="datetimeFigureOut">
              <a:rPr lang="fr-MG" smtClean="0"/>
              <a:t>14/01/2026</a:t>
            </a:fld>
            <a:endParaRPr lang="fr-MG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6710D7F-3C05-4225-9FE1-E3C54891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7D883C4-2448-4D59-A1E8-448393CE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139F-E76A-48E6-A49D-22187140F8B3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865705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432702-8C27-4611-9566-5B80EDFE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EB4D831-7C98-4585-8CF9-C4EA990B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6D000-2BC3-4F38-B2AE-FB81FEE2E0E7}" type="datetimeFigureOut">
              <a:rPr lang="fr-MG" smtClean="0"/>
              <a:t>14/01/2026</a:t>
            </a:fld>
            <a:endParaRPr lang="fr-MG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6480D5-D7F7-42D5-9363-4DE0F9DD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906C46-4CAE-4F78-9294-289332E1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139F-E76A-48E6-A49D-22187140F8B3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412728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E1A180F-2C0C-41E8-BE27-8978BDB47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6D000-2BC3-4F38-B2AE-FB81FEE2E0E7}" type="datetimeFigureOut">
              <a:rPr lang="fr-MG" smtClean="0"/>
              <a:t>14/01/2026</a:t>
            </a:fld>
            <a:endParaRPr lang="fr-MG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A912318-3162-4004-88AF-F60AF0BA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11A7E8-304E-4905-ADF9-2C272A78E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139F-E76A-48E6-A49D-22187140F8B3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979179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C7F432-A264-4DE1-8E3F-42A53C779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D00F31-BB2E-4613-BE8B-348F04F4E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EB612F9-54EF-4A2D-BA38-366DA3DCF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98DA3B-2D0B-400C-9C24-F54725A8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6D000-2BC3-4F38-B2AE-FB81FEE2E0E7}" type="datetimeFigureOut">
              <a:rPr lang="fr-MG" smtClean="0"/>
              <a:t>14/01/2026</a:t>
            </a:fld>
            <a:endParaRPr lang="fr-M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DEA209-E7ED-4FD8-8B58-07EA152A3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DE5C90-9754-4F1F-81AE-B96D53F63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139F-E76A-48E6-A49D-22187140F8B3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01002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12E6CE-E2BA-400D-8647-8D27FA109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0ACBBCE-34FD-4AAC-BD60-2F26C9D200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G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319230F-1B7A-4493-8CFC-EEDB13CCF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7D911F1-16FD-4BF1-B394-AD0B002B5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6D000-2BC3-4F38-B2AE-FB81FEE2E0E7}" type="datetimeFigureOut">
              <a:rPr lang="fr-MG" smtClean="0"/>
              <a:t>14/01/2026</a:t>
            </a:fld>
            <a:endParaRPr lang="fr-M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7C3BD58-3890-4A9E-A4AC-36013CF55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21CC03-915C-4E50-873D-A6CFB2B8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139F-E76A-48E6-A49D-22187140F8B3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51117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C8FBE7-BF2F-4439-BF29-0806F26E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D20D343-6E2F-41B3-9A82-EBFDBE88C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F002A9-B8F6-4815-B586-EE5D60FCF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6D000-2BC3-4F38-B2AE-FB81FEE2E0E7}" type="datetimeFigureOut">
              <a:rPr lang="fr-MG" smtClean="0"/>
              <a:t>14/01/2026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C6F7F1-13F2-4997-86CF-7462EF98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EF4A6D-DF5E-4668-8912-924C805C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139F-E76A-48E6-A49D-22187140F8B3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544331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472DA25-3C55-4D5C-92E1-3C57CE719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DC5469-AC1B-4B27-8176-94D17732B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DA35D4-2D7D-433C-80E6-0D6EA6AD4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6D000-2BC3-4F38-B2AE-FB81FEE2E0E7}" type="datetimeFigureOut">
              <a:rPr lang="fr-MG" smtClean="0"/>
              <a:t>14/01/2026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6CC918-F388-43E5-96BE-97F1104CC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91F4F5-1010-40D1-B4BF-F2E398DB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139F-E76A-48E6-A49D-22187140F8B3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93344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CD5877F-FA50-4428-82FC-C56C82D2E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60412C-02B5-4C13-8569-5029B6FD5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F55A26-7E4B-46A6-80D7-C554DB7E1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6D000-2BC3-4F38-B2AE-FB81FEE2E0E7}" type="datetimeFigureOut">
              <a:rPr lang="fr-MG" smtClean="0"/>
              <a:t>14/01/2026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7784C9-E3D7-49B4-B4DC-543935D7B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74A390-22DF-4486-A81F-F721A8693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8139F-E76A-48E6-A49D-22187140F8B3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80904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M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D3B2FE7-6BC4-4AA7-8106-F587B196BD6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881" y="604368"/>
            <a:ext cx="1080000" cy="1080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85FB91C-A0BC-4F0F-960E-B037AF9973E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35" y="604368"/>
            <a:ext cx="981435" cy="10800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EBAFA6F-014F-4965-A1A4-96E91B2FB99C}"/>
              </a:ext>
            </a:extLst>
          </p:cNvPr>
          <p:cNvSpPr txBox="1"/>
          <p:nvPr/>
        </p:nvSpPr>
        <p:spPr>
          <a:xfrm>
            <a:off x="2756450" y="1802297"/>
            <a:ext cx="6693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+mj-lt"/>
              </a:rPr>
              <a:t>MÉMOIRE E FIN D’ETUDE POUR L’OBTENTION DU DIPLÔME DE LICENCE PROFESSIONNELLE</a:t>
            </a:r>
            <a:endParaRPr lang="fr-MG" dirty="0">
              <a:latin typeface="+mj-l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F5E6961-4D31-46DF-A2F8-81A2B4D2C383}"/>
              </a:ext>
            </a:extLst>
          </p:cNvPr>
          <p:cNvSpPr txBox="1"/>
          <p:nvPr/>
        </p:nvSpPr>
        <p:spPr>
          <a:xfrm>
            <a:off x="2016523" y="2812394"/>
            <a:ext cx="81735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003D5B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Conception et réalisation d’une application web de gestion des matériels informatiques</a:t>
            </a:r>
            <a:endParaRPr lang="fr-MG" sz="3200" dirty="0">
              <a:solidFill>
                <a:srgbClr val="003D5B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89A1F2C-168D-4392-8ED3-D4E9923256D1}"/>
              </a:ext>
            </a:extLst>
          </p:cNvPr>
          <p:cNvSpPr txBox="1"/>
          <p:nvPr/>
        </p:nvSpPr>
        <p:spPr>
          <a:xfrm>
            <a:off x="2202051" y="5119860"/>
            <a:ext cx="7763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Présenté par </a:t>
            </a:r>
            <a:r>
              <a:rPr lang="fr-FR" dirty="0"/>
              <a:t>Mlle RAKOTOSAMIMANANA </a:t>
            </a:r>
            <a:r>
              <a:rPr lang="fr-FR" dirty="0" err="1"/>
              <a:t>Andriamarosoa</a:t>
            </a:r>
            <a:r>
              <a:rPr lang="fr-FR" dirty="0"/>
              <a:t> Fitiavana</a:t>
            </a:r>
          </a:p>
          <a:p>
            <a:r>
              <a:rPr lang="fr-FR" dirty="0">
                <a:latin typeface="+mj-lt"/>
              </a:rPr>
              <a:t>Encadré par </a:t>
            </a:r>
            <a:r>
              <a:rPr lang="fr-FR" dirty="0"/>
              <a:t>Mr RAKOTOHASIMBAHOAKA Cyprien Robert, Maître de Conférences</a:t>
            </a:r>
            <a:endParaRPr lang="fr-FR" dirty="0">
              <a:latin typeface="+mj-lt"/>
            </a:endParaRPr>
          </a:p>
          <a:p>
            <a:r>
              <a:rPr lang="fr-FR" dirty="0">
                <a:latin typeface="+mj-lt"/>
              </a:rPr>
              <a:t>(date)</a:t>
            </a:r>
            <a:endParaRPr lang="fr-MG" dirty="0">
              <a:latin typeface="+mj-lt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91A9006-C57C-4D4C-892E-40984700B7E0}"/>
              </a:ext>
            </a:extLst>
          </p:cNvPr>
          <p:cNvSpPr/>
          <p:nvPr/>
        </p:nvSpPr>
        <p:spPr>
          <a:xfrm>
            <a:off x="-878233" y="6170889"/>
            <a:ext cx="6712228" cy="1824790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882F4C0F-6D90-4A77-BB59-6B52B9DD09D7}"/>
              </a:ext>
            </a:extLst>
          </p:cNvPr>
          <p:cNvSpPr/>
          <p:nvPr/>
        </p:nvSpPr>
        <p:spPr>
          <a:xfrm>
            <a:off x="-554427" y="5509286"/>
            <a:ext cx="2663714" cy="872638"/>
          </a:xfrm>
          <a:prstGeom prst="roundRect">
            <a:avLst>
              <a:gd name="adj" fmla="val 50000"/>
            </a:avLst>
          </a:prstGeom>
          <a:solidFill>
            <a:srgbClr val="003D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F1F033C4-0670-4273-ABFB-2D5830BC700A}"/>
              </a:ext>
            </a:extLst>
          </p:cNvPr>
          <p:cNvSpPr/>
          <p:nvPr/>
        </p:nvSpPr>
        <p:spPr>
          <a:xfrm>
            <a:off x="6509854" y="-1302302"/>
            <a:ext cx="6712228" cy="1824790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A00F73BA-5B41-4D84-BF7E-B7D3AAD86260}"/>
              </a:ext>
            </a:extLst>
          </p:cNvPr>
          <p:cNvSpPr/>
          <p:nvPr/>
        </p:nvSpPr>
        <p:spPr>
          <a:xfrm>
            <a:off x="10190051" y="-33103"/>
            <a:ext cx="2663714" cy="872638"/>
          </a:xfrm>
          <a:prstGeom prst="roundRect">
            <a:avLst>
              <a:gd name="adj" fmla="val 50000"/>
            </a:avLst>
          </a:prstGeom>
          <a:solidFill>
            <a:srgbClr val="003D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B20C135-02DD-4BFD-9AD5-9BC52D56E87E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35" t="38580" r="22088" b="35697"/>
          <a:stretch/>
        </p:blipFill>
        <p:spPr bwMode="auto">
          <a:xfrm>
            <a:off x="8849816" y="757439"/>
            <a:ext cx="2808605" cy="7738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Ellipse 13">
            <a:extLst>
              <a:ext uri="{FF2B5EF4-FFF2-40B4-BE49-F238E27FC236}">
                <a16:creationId xmlns:a16="http://schemas.microsoft.com/office/drawing/2014/main" id="{D9A77F29-61A5-448D-8841-1F163486A906}"/>
              </a:ext>
            </a:extLst>
          </p:cNvPr>
          <p:cNvSpPr/>
          <p:nvPr/>
        </p:nvSpPr>
        <p:spPr>
          <a:xfrm>
            <a:off x="6646643" y="270873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B09CE39-311C-42DF-A6EE-676525D6FF91}"/>
              </a:ext>
            </a:extLst>
          </p:cNvPr>
          <p:cNvSpPr/>
          <p:nvPr/>
        </p:nvSpPr>
        <p:spPr>
          <a:xfrm>
            <a:off x="7654472" y="964368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142A42DD-FB16-4216-8E19-65B7C888F8BC}"/>
              </a:ext>
            </a:extLst>
          </p:cNvPr>
          <p:cNvSpPr/>
          <p:nvPr/>
        </p:nvSpPr>
        <p:spPr>
          <a:xfrm>
            <a:off x="11626742" y="5149285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DB9748CC-1181-44B2-BDF1-06A6F87BE00D}"/>
              </a:ext>
            </a:extLst>
          </p:cNvPr>
          <p:cNvSpPr/>
          <p:nvPr/>
        </p:nvSpPr>
        <p:spPr>
          <a:xfrm>
            <a:off x="11106663" y="6262498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ACE1502-4380-4BC7-BCFE-52A872D21F5C}"/>
              </a:ext>
            </a:extLst>
          </p:cNvPr>
          <p:cNvSpPr/>
          <p:nvPr/>
        </p:nvSpPr>
        <p:spPr>
          <a:xfrm>
            <a:off x="-899552" y="-901891"/>
            <a:ext cx="1800000" cy="1800000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9DF9DDE4-8612-466D-B162-3141DC5F3AE9}"/>
              </a:ext>
            </a:extLst>
          </p:cNvPr>
          <p:cNvSpPr/>
          <p:nvPr/>
        </p:nvSpPr>
        <p:spPr>
          <a:xfrm>
            <a:off x="-359552" y="-361891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46EAF39C-893B-4ED5-980D-ECB36F4BD867}"/>
              </a:ext>
            </a:extLst>
          </p:cNvPr>
          <p:cNvSpPr/>
          <p:nvPr/>
        </p:nvSpPr>
        <p:spPr>
          <a:xfrm>
            <a:off x="-180000" y="6246206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CAE1E9B3-1FD1-4CB8-B293-FBFF64A80138}"/>
              </a:ext>
            </a:extLst>
          </p:cNvPr>
          <p:cNvSpPr/>
          <p:nvPr/>
        </p:nvSpPr>
        <p:spPr>
          <a:xfrm>
            <a:off x="7143432" y="14101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3881507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lipse 55">
            <a:extLst>
              <a:ext uri="{FF2B5EF4-FFF2-40B4-BE49-F238E27FC236}">
                <a16:creationId xmlns:a16="http://schemas.microsoft.com/office/drawing/2014/main" id="{9D13CC3E-C6E2-4317-9E5A-63E60A842070}"/>
              </a:ext>
            </a:extLst>
          </p:cNvPr>
          <p:cNvSpPr/>
          <p:nvPr/>
        </p:nvSpPr>
        <p:spPr>
          <a:xfrm>
            <a:off x="862180" y="5570923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F8A96B4-B071-435A-901B-B38ABD02538E}"/>
              </a:ext>
            </a:extLst>
          </p:cNvPr>
          <p:cNvSpPr/>
          <p:nvPr/>
        </p:nvSpPr>
        <p:spPr>
          <a:xfrm rot="5400000">
            <a:off x="-489466" y="-1525417"/>
            <a:ext cx="6712228" cy="4205835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E865D7F-4AF2-4E6F-963F-3EB7551912DE}"/>
              </a:ext>
            </a:extLst>
          </p:cNvPr>
          <p:cNvSpPr/>
          <p:nvPr/>
        </p:nvSpPr>
        <p:spPr>
          <a:xfrm>
            <a:off x="315603" y="937591"/>
            <a:ext cx="5076000" cy="507600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25E2CC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009137E-1B2A-40F0-8335-E4D0DCD5A5AD}"/>
              </a:ext>
            </a:extLst>
          </p:cNvPr>
          <p:cNvSpPr txBox="1"/>
          <p:nvPr/>
        </p:nvSpPr>
        <p:spPr>
          <a:xfrm>
            <a:off x="-539161" y="3038545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Remerciements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442162F-DC9A-47B5-A48E-401E3BB975F7}"/>
              </a:ext>
            </a:extLst>
          </p:cNvPr>
          <p:cNvSpPr/>
          <p:nvPr/>
        </p:nvSpPr>
        <p:spPr>
          <a:xfrm>
            <a:off x="4609566" y="124409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CFE5A9E-EDAB-4D61-839A-7ECA46D9AFB0}"/>
              </a:ext>
            </a:extLst>
          </p:cNvPr>
          <p:cNvSpPr/>
          <p:nvPr/>
        </p:nvSpPr>
        <p:spPr>
          <a:xfrm>
            <a:off x="403730" y="6013591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F073437-AB73-424B-8B1A-1C53AF849347}"/>
              </a:ext>
            </a:extLst>
          </p:cNvPr>
          <p:cNvSpPr/>
          <p:nvPr/>
        </p:nvSpPr>
        <p:spPr>
          <a:xfrm>
            <a:off x="5391603" y="937591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95FC7776-5663-4265-B9F4-9F488A03F89B}"/>
              </a:ext>
            </a:extLst>
          </p:cNvPr>
          <p:cNvSpPr/>
          <p:nvPr/>
        </p:nvSpPr>
        <p:spPr>
          <a:xfrm>
            <a:off x="1123730" y="563480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364162E3-3472-4800-9C72-EEF674BE88B2}"/>
              </a:ext>
            </a:extLst>
          </p:cNvPr>
          <p:cNvGrpSpPr/>
          <p:nvPr/>
        </p:nvGrpSpPr>
        <p:grpSpPr>
          <a:xfrm>
            <a:off x="12322080" y="358262"/>
            <a:ext cx="5758870" cy="1232400"/>
            <a:chOff x="12322080" y="358262"/>
            <a:chExt cx="5758870" cy="1232400"/>
          </a:xfrm>
        </p:grpSpPr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EF31916B-9AE8-494E-80D1-3DC53BF62997}"/>
                </a:ext>
              </a:extLst>
            </p:cNvPr>
            <p:cNvGrpSpPr/>
            <p:nvPr/>
          </p:nvGrpSpPr>
          <p:grpSpPr>
            <a:xfrm>
              <a:off x="12322080" y="358262"/>
              <a:ext cx="5740940" cy="1232400"/>
              <a:chOff x="12322080" y="421345"/>
              <a:chExt cx="5740940" cy="1232400"/>
            </a:xfrm>
          </p:grpSpPr>
          <p:grpSp>
            <p:nvGrpSpPr>
              <p:cNvPr id="22" name="Groupe 21">
                <a:extLst>
                  <a:ext uri="{FF2B5EF4-FFF2-40B4-BE49-F238E27FC236}">
                    <a16:creationId xmlns:a16="http://schemas.microsoft.com/office/drawing/2014/main" id="{59EE6664-0054-4D2F-BDA9-C08BAA220B7F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0" name="Rectangle : coins arrondis 19">
                  <a:extLst>
                    <a:ext uri="{FF2B5EF4-FFF2-40B4-BE49-F238E27FC236}">
                      <a16:creationId xmlns:a16="http://schemas.microsoft.com/office/drawing/2014/main" id="{0575F5C0-9A2A-44B3-8477-4C0FA02CC546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21" name="Rectangle : coins arrondis 20">
                  <a:extLst>
                    <a:ext uri="{FF2B5EF4-FFF2-40B4-BE49-F238E27FC236}">
                      <a16:creationId xmlns:a16="http://schemas.microsoft.com/office/drawing/2014/main" id="{789889D9-E414-4A8D-A1C8-04092D5C08A7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4" name="Rectangle : coins arrondis 33">
                <a:extLst>
                  <a:ext uri="{FF2B5EF4-FFF2-40B4-BE49-F238E27FC236}">
                    <a16:creationId xmlns:a16="http://schemas.microsoft.com/office/drawing/2014/main" id="{899E47AA-D7DB-46E4-B45D-404B1E8E4C95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1C5611C1-5969-4699-9A82-898921F8580D}"/>
                </a:ext>
              </a:extLst>
            </p:cNvPr>
            <p:cNvSpPr txBox="1"/>
            <p:nvPr/>
          </p:nvSpPr>
          <p:spPr>
            <a:xfrm>
              <a:off x="12838390" y="67124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MAHATODY Thomas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Directeur de l’Ecole National d’Informatique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E2D3A126-5689-4EB9-9DFF-A33A61A298F2}"/>
              </a:ext>
            </a:extLst>
          </p:cNvPr>
          <p:cNvGrpSpPr/>
          <p:nvPr/>
        </p:nvGrpSpPr>
        <p:grpSpPr>
          <a:xfrm>
            <a:off x="12337130" y="3606772"/>
            <a:ext cx="5740940" cy="1232400"/>
            <a:chOff x="12322080" y="1979874"/>
            <a:chExt cx="5740940" cy="1232400"/>
          </a:xfrm>
        </p:grpSpPr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3A986D1D-2313-4C6E-BDA0-1ABDC38A5417}"/>
                </a:ext>
              </a:extLst>
            </p:cNvPr>
            <p:cNvGrpSpPr/>
            <p:nvPr/>
          </p:nvGrpSpPr>
          <p:grpSpPr>
            <a:xfrm>
              <a:off x="12322080" y="1979874"/>
              <a:ext cx="5740940" cy="1232400"/>
              <a:chOff x="12322080" y="421345"/>
              <a:chExt cx="5740940" cy="1232400"/>
            </a:xfrm>
          </p:grpSpPr>
          <p:grpSp>
            <p:nvGrpSpPr>
              <p:cNvPr id="37" name="Groupe 36">
                <a:extLst>
                  <a:ext uri="{FF2B5EF4-FFF2-40B4-BE49-F238E27FC236}">
                    <a16:creationId xmlns:a16="http://schemas.microsoft.com/office/drawing/2014/main" id="{38058673-2A8D-4658-B2AB-6623ED1E2DC7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39" name="Rectangle : coins arrondis 38">
                  <a:extLst>
                    <a:ext uri="{FF2B5EF4-FFF2-40B4-BE49-F238E27FC236}">
                      <a16:creationId xmlns:a16="http://schemas.microsoft.com/office/drawing/2014/main" id="{11A149D8-989C-493E-A5D5-A223BEB28B88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40" name="Rectangle : coins arrondis 39">
                  <a:extLst>
                    <a:ext uri="{FF2B5EF4-FFF2-40B4-BE49-F238E27FC236}">
                      <a16:creationId xmlns:a16="http://schemas.microsoft.com/office/drawing/2014/main" id="{3B66B50F-4C4A-4EAE-BF6F-387A66EF6736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8" name="Rectangle : coins arrondis 37">
                <a:extLst>
                  <a:ext uri="{FF2B5EF4-FFF2-40B4-BE49-F238E27FC236}">
                    <a16:creationId xmlns:a16="http://schemas.microsoft.com/office/drawing/2014/main" id="{9B82BC5A-52B5-4BB3-8A15-E7F200D51A8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04822111-3315-41AF-8842-852598AC6830}"/>
                </a:ext>
              </a:extLst>
            </p:cNvPr>
            <p:cNvSpPr txBox="1"/>
            <p:nvPr/>
          </p:nvSpPr>
          <p:spPr>
            <a:xfrm>
              <a:off x="12770610" y="2300962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RABENJANAHARY A. Kevin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Encadreur professionnel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31AE9AFF-3399-43E4-96ED-71CE4031ED34}"/>
              </a:ext>
            </a:extLst>
          </p:cNvPr>
          <p:cNvGrpSpPr/>
          <p:nvPr/>
        </p:nvGrpSpPr>
        <p:grpSpPr>
          <a:xfrm>
            <a:off x="12322080" y="2003060"/>
            <a:ext cx="5740940" cy="1232400"/>
            <a:chOff x="12322080" y="3601486"/>
            <a:chExt cx="5740940" cy="1232400"/>
          </a:xfrm>
        </p:grpSpPr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A8F81E26-786B-42E3-9B1A-8C871C41EBDA}"/>
                </a:ext>
              </a:extLst>
            </p:cNvPr>
            <p:cNvGrpSpPr/>
            <p:nvPr/>
          </p:nvGrpSpPr>
          <p:grpSpPr>
            <a:xfrm>
              <a:off x="12322080" y="3601486"/>
              <a:ext cx="5740940" cy="1232400"/>
              <a:chOff x="12322080" y="421345"/>
              <a:chExt cx="5740940" cy="1232400"/>
            </a:xfrm>
          </p:grpSpPr>
          <p:grpSp>
            <p:nvGrpSpPr>
              <p:cNvPr id="42" name="Groupe 41">
                <a:extLst>
                  <a:ext uri="{FF2B5EF4-FFF2-40B4-BE49-F238E27FC236}">
                    <a16:creationId xmlns:a16="http://schemas.microsoft.com/office/drawing/2014/main" id="{7200BAD3-64E3-47FB-B6C9-3246B55D32C8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44" name="Rectangle : coins arrondis 43">
                  <a:extLst>
                    <a:ext uri="{FF2B5EF4-FFF2-40B4-BE49-F238E27FC236}">
                      <a16:creationId xmlns:a16="http://schemas.microsoft.com/office/drawing/2014/main" id="{5DCEE930-C631-4A5D-8706-3ED1AB8383B5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45" name="Rectangle : coins arrondis 44">
                  <a:extLst>
                    <a:ext uri="{FF2B5EF4-FFF2-40B4-BE49-F238E27FC236}">
                      <a16:creationId xmlns:a16="http://schemas.microsoft.com/office/drawing/2014/main" id="{52F4637B-2EC5-4AF4-9701-4F7ADCB4195F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43" name="Rectangle : coins arrondis 42">
                <a:extLst>
                  <a:ext uri="{FF2B5EF4-FFF2-40B4-BE49-F238E27FC236}">
                    <a16:creationId xmlns:a16="http://schemas.microsoft.com/office/drawing/2014/main" id="{7C06B8B7-2E70-43F8-9C72-EC0A370C5D5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FA36ABDA-6CC4-497B-934A-BD53B21412A4}"/>
                </a:ext>
              </a:extLst>
            </p:cNvPr>
            <p:cNvSpPr txBox="1"/>
            <p:nvPr/>
          </p:nvSpPr>
          <p:spPr>
            <a:xfrm>
              <a:off x="12770610" y="391837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RAKOTOHASIMBAHOAKA cyprien Robert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Maître de Conférence, Encadreur pédagogique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33017E19-B150-43DE-BA88-132EBF417CC6}"/>
              </a:ext>
            </a:extLst>
          </p:cNvPr>
          <p:cNvGrpSpPr/>
          <p:nvPr/>
        </p:nvGrpSpPr>
        <p:grpSpPr>
          <a:xfrm>
            <a:off x="12340010" y="5249166"/>
            <a:ext cx="5740940" cy="1232400"/>
            <a:chOff x="12340010" y="5249166"/>
            <a:chExt cx="5740940" cy="1232400"/>
          </a:xfrm>
        </p:grpSpPr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08F86E1D-331A-4511-95A2-BDA343DF5EC4}"/>
                </a:ext>
              </a:extLst>
            </p:cNvPr>
            <p:cNvGrpSpPr/>
            <p:nvPr/>
          </p:nvGrpSpPr>
          <p:grpSpPr>
            <a:xfrm>
              <a:off x="12340010" y="5249166"/>
              <a:ext cx="5740940" cy="1232400"/>
              <a:chOff x="12322080" y="421345"/>
              <a:chExt cx="5740940" cy="1232400"/>
            </a:xfrm>
          </p:grpSpPr>
          <p:grpSp>
            <p:nvGrpSpPr>
              <p:cNvPr id="47" name="Groupe 46">
                <a:extLst>
                  <a:ext uri="{FF2B5EF4-FFF2-40B4-BE49-F238E27FC236}">
                    <a16:creationId xmlns:a16="http://schemas.microsoft.com/office/drawing/2014/main" id="{7BC19DCE-AE1D-4919-87C2-BE67FCEF90EB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49" name="Rectangle : coins arrondis 48">
                  <a:extLst>
                    <a:ext uri="{FF2B5EF4-FFF2-40B4-BE49-F238E27FC236}">
                      <a16:creationId xmlns:a16="http://schemas.microsoft.com/office/drawing/2014/main" id="{C1C1F097-E0BD-4DA6-8149-4EEADAC4AF1E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50" name="Rectangle : coins arrondis 49">
                  <a:extLst>
                    <a:ext uri="{FF2B5EF4-FFF2-40B4-BE49-F238E27FC236}">
                      <a16:creationId xmlns:a16="http://schemas.microsoft.com/office/drawing/2014/main" id="{84DA85A7-76F7-4F83-AC5C-43D3678A09D6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48" name="Rectangle : coins arrondis 47">
                <a:extLst>
                  <a:ext uri="{FF2B5EF4-FFF2-40B4-BE49-F238E27FC236}">
                    <a16:creationId xmlns:a16="http://schemas.microsoft.com/office/drawing/2014/main" id="{9CD662C8-FFB7-48C5-8564-43584AC7079B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A2F767F5-0DE6-48D8-9542-E03E306DC25C}"/>
                </a:ext>
              </a:extLst>
            </p:cNvPr>
            <p:cNvSpPr txBox="1"/>
            <p:nvPr/>
          </p:nvSpPr>
          <p:spPr>
            <a:xfrm>
              <a:off x="12835510" y="5705430"/>
              <a:ext cx="524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Les membre de la commission du jury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55" name="Ellipse 54">
            <a:extLst>
              <a:ext uri="{FF2B5EF4-FFF2-40B4-BE49-F238E27FC236}">
                <a16:creationId xmlns:a16="http://schemas.microsoft.com/office/drawing/2014/main" id="{65AAF28B-B397-47AD-81DB-23D5A7FA08F7}"/>
              </a:ext>
            </a:extLst>
          </p:cNvPr>
          <p:cNvSpPr/>
          <p:nvPr/>
        </p:nvSpPr>
        <p:spPr>
          <a:xfrm>
            <a:off x="5211603" y="17826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2519510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BA196D70-16F6-4A67-96D7-EF5BF17E45E1}"/>
              </a:ext>
            </a:extLst>
          </p:cNvPr>
          <p:cNvGrpSpPr/>
          <p:nvPr/>
        </p:nvGrpSpPr>
        <p:grpSpPr>
          <a:xfrm>
            <a:off x="12340010" y="3609962"/>
            <a:ext cx="5740940" cy="1232400"/>
            <a:chOff x="12322080" y="1979874"/>
            <a:chExt cx="5740940" cy="1232400"/>
          </a:xfrm>
        </p:grpSpPr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3A986D1D-2313-4C6E-BDA0-1ABDC38A5417}"/>
                </a:ext>
              </a:extLst>
            </p:cNvPr>
            <p:cNvGrpSpPr/>
            <p:nvPr/>
          </p:nvGrpSpPr>
          <p:grpSpPr>
            <a:xfrm>
              <a:off x="12322080" y="1979874"/>
              <a:ext cx="5740940" cy="1232400"/>
              <a:chOff x="12322080" y="421345"/>
              <a:chExt cx="5740940" cy="1232400"/>
            </a:xfrm>
          </p:grpSpPr>
          <p:grpSp>
            <p:nvGrpSpPr>
              <p:cNvPr id="37" name="Groupe 36">
                <a:extLst>
                  <a:ext uri="{FF2B5EF4-FFF2-40B4-BE49-F238E27FC236}">
                    <a16:creationId xmlns:a16="http://schemas.microsoft.com/office/drawing/2014/main" id="{38058673-2A8D-4658-B2AB-6623ED1E2DC7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39" name="Rectangle : coins arrondis 38">
                  <a:extLst>
                    <a:ext uri="{FF2B5EF4-FFF2-40B4-BE49-F238E27FC236}">
                      <a16:creationId xmlns:a16="http://schemas.microsoft.com/office/drawing/2014/main" id="{11A149D8-989C-493E-A5D5-A223BEB28B88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40" name="Rectangle : coins arrondis 39">
                  <a:extLst>
                    <a:ext uri="{FF2B5EF4-FFF2-40B4-BE49-F238E27FC236}">
                      <a16:creationId xmlns:a16="http://schemas.microsoft.com/office/drawing/2014/main" id="{3B66B50F-4C4A-4EAE-BF6F-387A66EF6736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8" name="Rectangle : coins arrondis 37">
                <a:extLst>
                  <a:ext uri="{FF2B5EF4-FFF2-40B4-BE49-F238E27FC236}">
                    <a16:creationId xmlns:a16="http://schemas.microsoft.com/office/drawing/2014/main" id="{9B82BC5A-52B5-4BB3-8A15-E7F200D51A8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04822111-3315-41AF-8842-852598AC6830}"/>
                </a:ext>
              </a:extLst>
            </p:cNvPr>
            <p:cNvSpPr txBox="1"/>
            <p:nvPr/>
          </p:nvSpPr>
          <p:spPr>
            <a:xfrm>
              <a:off x="12770610" y="2300962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RABENJANAHARY A. Kevin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Encadreur professionnel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F8A96B4-B071-435A-901B-B38ABD02538E}"/>
              </a:ext>
            </a:extLst>
          </p:cNvPr>
          <p:cNvSpPr/>
          <p:nvPr/>
        </p:nvSpPr>
        <p:spPr>
          <a:xfrm rot="5400000">
            <a:off x="-489466" y="-1525417"/>
            <a:ext cx="6712228" cy="4205835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9A77B8D4-DE46-4BC4-BE99-8A6E36D8014C}"/>
              </a:ext>
            </a:extLst>
          </p:cNvPr>
          <p:cNvSpPr/>
          <p:nvPr/>
        </p:nvSpPr>
        <p:spPr>
          <a:xfrm>
            <a:off x="315603" y="937591"/>
            <a:ext cx="5076000" cy="507600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25E2CC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009137E-1B2A-40F0-8335-E4D0DCD5A5AD}"/>
              </a:ext>
            </a:extLst>
          </p:cNvPr>
          <p:cNvSpPr txBox="1"/>
          <p:nvPr/>
        </p:nvSpPr>
        <p:spPr>
          <a:xfrm>
            <a:off x="-539161" y="3038545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Remerciements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EC2E7709-2515-4BA8-8639-FA284A2FB54C}"/>
              </a:ext>
            </a:extLst>
          </p:cNvPr>
          <p:cNvGrpSpPr/>
          <p:nvPr/>
        </p:nvGrpSpPr>
        <p:grpSpPr>
          <a:xfrm>
            <a:off x="6085400" y="358262"/>
            <a:ext cx="5758870" cy="1232400"/>
            <a:chOff x="12322080" y="358262"/>
            <a:chExt cx="5758870" cy="1232400"/>
          </a:xfrm>
        </p:grpSpPr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EF31916B-9AE8-494E-80D1-3DC53BF62997}"/>
                </a:ext>
              </a:extLst>
            </p:cNvPr>
            <p:cNvGrpSpPr/>
            <p:nvPr/>
          </p:nvGrpSpPr>
          <p:grpSpPr>
            <a:xfrm>
              <a:off x="12322080" y="358262"/>
              <a:ext cx="5740940" cy="1232400"/>
              <a:chOff x="12322080" y="421345"/>
              <a:chExt cx="5740940" cy="1232400"/>
            </a:xfrm>
          </p:grpSpPr>
          <p:grpSp>
            <p:nvGrpSpPr>
              <p:cNvPr id="22" name="Groupe 21">
                <a:extLst>
                  <a:ext uri="{FF2B5EF4-FFF2-40B4-BE49-F238E27FC236}">
                    <a16:creationId xmlns:a16="http://schemas.microsoft.com/office/drawing/2014/main" id="{59EE6664-0054-4D2F-BDA9-C08BAA220B7F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0" name="Rectangle : coins arrondis 19">
                  <a:extLst>
                    <a:ext uri="{FF2B5EF4-FFF2-40B4-BE49-F238E27FC236}">
                      <a16:creationId xmlns:a16="http://schemas.microsoft.com/office/drawing/2014/main" id="{0575F5C0-9A2A-44B3-8477-4C0FA02CC546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21" name="Rectangle : coins arrondis 20">
                  <a:extLst>
                    <a:ext uri="{FF2B5EF4-FFF2-40B4-BE49-F238E27FC236}">
                      <a16:creationId xmlns:a16="http://schemas.microsoft.com/office/drawing/2014/main" id="{789889D9-E414-4A8D-A1C8-04092D5C08A7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4" name="Rectangle : coins arrondis 33">
                <a:extLst>
                  <a:ext uri="{FF2B5EF4-FFF2-40B4-BE49-F238E27FC236}">
                    <a16:creationId xmlns:a16="http://schemas.microsoft.com/office/drawing/2014/main" id="{899E47AA-D7DB-46E4-B45D-404B1E8E4C95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1C5611C1-5969-4699-9A82-898921F8580D}"/>
                </a:ext>
              </a:extLst>
            </p:cNvPr>
            <p:cNvSpPr txBox="1"/>
            <p:nvPr/>
          </p:nvSpPr>
          <p:spPr>
            <a:xfrm>
              <a:off x="12838390" y="67124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MAHATODY Thomas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Directeur de l’Ecole National d’Informatique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B09E6360-5A8B-4388-A76B-8AFC1F1B3645}"/>
              </a:ext>
            </a:extLst>
          </p:cNvPr>
          <p:cNvGrpSpPr/>
          <p:nvPr/>
        </p:nvGrpSpPr>
        <p:grpSpPr>
          <a:xfrm>
            <a:off x="12337130" y="1967061"/>
            <a:ext cx="5740940" cy="1232400"/>
            <a:chOff x="12337130" y="1967061"/>
            <a:chExt cx="5740940" cy="1232400"/>
          </a:xfrm>
        </p:grpSpPr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A8F81E26-786B-42E3-9B1A-8C871C41EBDA}"/>
                </a:ext>
              </a:extLst>
            </p:cNvPr>
            <p:cNvGrpSpPr/>
            <p:nvPr/>
          </p:nvGrpSpPr>
          <p:grpSpPr>
            <a:xfrm>
              <a:off x="12337130" y="1967061"/>
              <a:ext cx="5740940" cy="1232400"/>
              <a:chOff x="12322080" y="421345"/>
              <a:chExt cx="5740940" cy="1232400"/>
            </a:xfrm>
          </p:grpSpPr>
          <p:grpSp>
            <p:nvGrpSpPr>
              <p:cNvPr id="42" name="Groupe 41">
                <a:extLst>
                  <a:ext uri="{FF2B5EF4-FFF2-40B4-BE49-F238E27FC236}">
                    <a16:creationId xmlns:a16="http://schemas.microsoft.com/office/drawing/2014/main" id="{7200BAD3-64E3-47FB-B6C9-3246B55D32C8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44" name="Rectangle : coins arrondis 43">
                  <a:extLst>
                    <a:ext uri="{FF2B5EF4-FFF2-40B4-BE49-F238E27FC236}">
                      <a16:creationId xmlns:a16="http://schemas.microsoft.com/office/drawing/2014/main" id="{5DCEE930-C631-4A5D-8706-3ED1AB8383B5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45" name="Rectangle : coins arrondis 44">
                  <a:extLst>
                    <a:ext uri="{FF2B5EF4-FFF2-40B4-BE49-F238E27FC236}">
                      <a16:creationId xmlns:a16="http://schemas.microsoft.com/office/drawing/2014/main" id="{52F4637B-2EC5-4AF4-9701-4F7ADCB4195F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43" name="Rectangle : coins arrondis 42">
                <a:extLst>
                  <a:ext uri="{FF2B5EF4-FFF2-40B4-BE49-F238E27FC236}">
                    <a16:creationId xmlns:a16="http://schemas.microsoft.com/office/drawing/2014/main" id="{7C06B8B7-2E70-43F8-9C72-EC0A370C5D5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FA36ABDA-6CC4-497B-934A-BD53B21412A4}"/>
                </a:ext>
              </a:extLst>
            </p:cNvPr>
            <p:cNvSpPr txBox="1"/>
            <p:nvPr/>
          </p:nvSpPr>
          <p:spPr>
            <a:xfrm>
              <a:off x="12788540" y="2269289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RAKOTOHASIMBAHOAKA cyprien Robert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Maître de Conférence, Encadreur pédagogique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EE883080-AC18-49B2-8FEA-885C056CC716}"/>
              </a:ext>
            </a:extLst>
          </p:cNvPr>
          <p:cNvGrpSpPr/>
          <p:nvPr/>
        </p:nvGrpSpPr>
        <p:grpSpPr>
          <a:xfrm>
            <a:off x="12340010" y="5249166"/>
            <a:ext cx="5740940" cy="1232400"/>
            <a:chOff x="12340010" y="5249166"/>
            <a:chExt cx="5740940" cy="1232400"/>
          </a:xfrm>
        </p:grpSpPr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08F86E1D-331A-4511-95A2-BDA343DF5EC4}"/>
                </a:ext>
              </a:extLst>
            </p:cNvPr>
            <p:cNvGrpSpPr/>
            <p:nvPr/>
          </p:nvGrpSpPr>
          <p:grpSpPr>
            <a:xfrm>
              <a:off x="12340010" y="5249166"/>
              <a:ext cx="5740940" cy="1232400"/>
              <a:chOff x="12322080" y="421345"/>
              <a:chExt cx="5740940" cy="1232400"/>
            </a:xfrm>
          </p:grpSpPr>
          <p:grpSp>
            <p:nvGrpSpPr>
              <p:cNvPr id="47" name="Groupe 46">
                <a:extLst>
                  <a:ext uri="{FF2B5EF4-FFF2-40B4-BE49-F238E27FC236}">
                    <a16:creationId xmlns:a16="http://schemas.microsoft.com/office/drawing/2014/main" id="{7BC19DCE-AE1D-4919-87C2-BE67FCEF90EB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49" name="Rectangle : coins arrondis 48">
                  <a:extLst>
                    <a:ext uri="{FF2B5EF4-FFF2-40B4-BE49-F238E27FC236}">
                      <a16:creationId xmlns:a16="http://schemas.microsoft.com/office/drawing/2014/main" id="{C1C1F097-E0BD-4DA6-8149-4EEADAC4AF1E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50" name="Rectangle : coins arrondis 49">
                  <a:extLst>
                    <a:ext uri="{FF2B5EF4-FFF2-40B4-BE49-F238E27FC236}">
                      <a16:creationId xmlns:a16="http://schemas.microsoft.com/office/drawing/2014/main" id="{84DA85A7-76F7-4F83-AC5C-43D3678A09D6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48" name="Rectangle : coins arrondis 47">
                <a:extLst>
                  <a:ext uri="{FF2B5EF4-FFF2-40B4-BE49-F238E27FC236}">
                    <a16:creationId xmlns:a16="http://schemas.microsoft.com/office/drawing/2014/main" id="{9CD662C8-FFB7-48C5-8564-43584AC7079B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A2F767F5-0DE6-48D8-9542-E03E306DC25C}"/>
                </a:ext>
              </a:extLst>
            </p:cNvPr>
            <p:cNvSpPr txBox="1"/>
            <p:nvPr/>
          </p:nvSpPr>
          <p:spPr>
            <a:xfrm>
              <a:off x="12835510" y="5705430"/>
              <a:ext cx="524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Les membre de la commission du jury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60" name="Ellipse 59">
            <a:extLst>
              <a:ext uri="{FF2B5EF4-FFF2-40B4-BE49-F238E27FC236}">
                <a16:creationId xmlns:a16="http://schemas.microsoft.com/office/drawing/2014/main" id="{BDFB9C85-7261-4F17-96CC-B6BF381D882C}"/>
              </a:ext>
            </a:extLst>
          </p:cNvPr>
          <p:cNvSpPr/>
          <p:nvPr/>
        </p:nvSpPr>
        <p:spPr>
          <a:xfrm>
            <a:off x="862180" y="5570923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8A48CAA2-8E63-4280-A0E7-5A1B50BFF839}"/>
              </a:ext>
            </a:extLst>
          </p:cNvPr>
          <p:cNvSpPr/>
          <p:nvPr/>
        </p:nvSpPr>
        <p:spPr>
          <a:xfrm>
            <a:off x="4609566" y="124409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486B0243-9597-45C1-AC96-E774A1FB3305}"/>
              </a:ext>
            </a:extLst>
          </p:cNvPr>
          <p:cNvSpPr/>
          <p:nvPr/>
        </p:nvSpPr>
        <p:spPr>
          <a:xfrm>
            <a:off x="403730" y="6013591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D9DCE88E-2A4C-4A6E-A35E-70E6234866C9}"/>
              </a:ext>
            </a:extLst>
          </p:cNvPr>
          <p:cNvSpPr/>
          <p:nvPr/>
        </p:nvSpPr>
        <p:spPr>
          <a:xfrm>
            <a:off x="5391603" y="937591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0079974E-5188-403D-8A5F-45B071D09D78}"/>
              </a:ext>
            </a:extLst>
          </p:cNvPr>
          <p:cNvSpPr/>
          <p:nvPr/>
        </p:nvSpPr>
        <p:spPr>
          <a:xfrm>
            <a:off x="1123730" y="563480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2CCB971A-C4D3-4C3B-B9EA-16BED634817A}"/>
              </a:ext>
            </a:extLst>
          </p:cNvPr>
          <p:cNvSpPr/>
          <p:nvPr/>
        </p:nvSpPr>
        <p:spPr>
          <a:xfrm>
            <a:off x="5211603" y="17826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9725930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F8A96B4-B071-435A-901B-B38ABD02538E}"/>
              </a:ext>
            </a:extLst>
          </p:cNvPr>
          <p:cNvSpPr/>
          <p:nvPr/>
        </p:nvSpPr>
        <p:spPr>
          <a:xfrm rot="5400000">
            <a:off x="-489466" y="-1525417"/>
            <a:ext cx="6712228" cy="4205835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A8F81E26-786B-42E3-9B1A-8C871C41EBDA}"/>
              </a:ext>
            </a:extLst>
          </p:cNvPr>
          <p:cNvGrpSpPr/>
          <p:nvPr/>
        </p:nvGrpSpPr>
        <p:grpSpPr>
          <a:xfrm>
            <a:off x="12322080" y="3601486"/>
            <a:ext cx="5740940" cy="1232400"/>
            <a:chOff x="12322080" y="421345"/>
            <a:chExt cx="5740940" cy="1232400"/>
          </a:xfrm>
        </p:grpSpPr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7200BAD3-64E3-47FB-B6C9-3246B55D32C8}"/>
                </a:ext>
              </a:extLst>
            </p:cNvPr>
            <p:cNvGrpSpPr/>
            <p:nvPr/>
          </p:nvGrpSpPr>
          <p:grpSpPr>
            <a:xfrm>
              <a:off x="12322080" y="421345"/>
              <a:ext cx="5740940" cy="1232400"/>
              <a:chOff x="5839730" y="908068"/>
              <a:chExt cx="5740940" cy="1232400"/>
            </a:xfrm>
          </p:grpSpPr>
          <p:sp>
            <p:nvSpPr>
              <p:cNvPr id="44" name="Rectangle : coins arrondis 43">
                <a:extLst>
                  <a:ext uri="{FF2B5EF4-FFF2-40B4-BE49-F238E27FC236}">
                    <a16:creationId xmlns:a16="http://schemas.microsoft.com/office/drawing/2014/main" id="{5DCEE930-C631-4A5D-8706-3ED1AB8383B5}"/>
                  </a:ext>
                </a:extLst>
              </p:cNvPr>
              <p:cNvSpPr/>
              <p:nvPr/>
            </p:nvSpPr>
            <p:spPr>
              <a:xfrm>
                <a:off x="5839730" y="908068"/>
                <a:ext cx="5588540" cy="1080000"/>
              </a:xfrm>
              <a:prstGeom prst="roundRect">
                <a:avLst>
                  <a:gd name="adj" fmla="val 50000"/>
                </a:avLst>
              </a:prstGeom>
              <a:solidFill>
                <a:srgbClr val="003D5B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  <p:sp>
            <p:nvSpPr>
              <p:cNvPr id="45" name="Rectangle : coins arrondis 44">
                <a:extLst>
                  <a:ext uri="{FF2B5EF4-FFF2-40B4-BE49-F238E27FC236}">
                    <a16:creationId xmlns:a16="http://schemas.microsoft.com/office/drawing/2014/main" id="{52F4637B-2EC5-4AF4-9701-4F7ADCB4195F}"/>
                  </a:ext>
                </a:extLst>
              </p:cNvPr>
              <p:cNvSpPr/>
              <p:nvPr/>
            </p:nvSpPr>
            <p:spPr>
              <a:xfrm>
                <a:off x="5992130" y="1060468"/>
                <a:ext cx="5588540" cy="1080000"/>
              </a:xfrm>
              <a:prstGeom prst="roundRect">
                <a:avLst>
                  <a:gd name="adj" fmla="val 50000"/>
                </a:avLst>
              </a:prstGeom>
              <a:solidFill>
                <a:srgbClr val="003D5B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43" name="Rectangle : coins arrondis 42">
              <a:extLst>
                <a:ext uri="{FF2B5EF4-FFF2-40B4-BE49-F238E27FC236}">
                  <a16:creationId xmlns:a16="http://schemas.microsoft.com/office/drawing/2014/main" id="{7C06B8B7-2E70-43F8-9C72-EC0A370C5D59}"/>
                </a:ext>
              </a:extLst>
            </p:cNvPr>
            <p:cNvSpPr/>
            <p:nvPr/>
          </p:nvSpPr>
          <p:spPr>
            <a:xfrm>
              <a:off x="12654480" y="646831"/>
              <a:ext cx="5112000" cy="79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08F86E1D-331A-4511-95A2-BDA343DF5EC4}"/>
              </a:ext>
            </a:extLst>
          </p:cNvPr>
          <p:cNvGrpSpPr/>
          <p:nvPr/>
        </p:nvGrpSpPr>
        <p:grpSpPr>
          <a:xfrm>
            <a:off x="12340010" y="5249166"/>
            <a:ext cx="5740940" cy="1232400"/>
            <a:chOff x="12322080" y="421345"/>
            <a:chExt cx="5740940" cy="1232400"/>
          </a:xfrm>
        </p:grpSpPr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7BC19DCE-AE1D-4919-87C2-BE67FCEF90EB}"/>
                </a:ext>
              </a:extLst>
            </p:cNvPr>
            <p:cNvGrpSpPr/>
            <p:nvPr/>
          </p:nvGrpSpPr>
          <p:grpSpPr>
            <a:xfrm>
              <a:off x="12322080" y="421345"/>
              <a:ext cx="5740940" cy="1232400"/>
              <a:chOff x="5839730" y="908068"/>
              <a:chExt cx="5740940" cy="1232400"/>
            </a:xfrm>
          </p:grpSpPr>
          <p:sp>
            <p:nvSpPr>
              <p:cNvPr id="49" name="Rectangle : coins arrondis 48">
                <a:extLst>
                  <a:ext uri="{FF2B5EF4-FFF2-40B4-BE49-F238E27FC236}">
                    <a16:creationId xmlns:a16="http://schemas.microsoft.com/office/drawing/2014/main" id="{C1C1F097-E0BD-4DA6-8149-4EEADAC4AF1E}"/>
                  </a:ext>
                </a:extLst>
              </p:cNvPr>
              <p:cNvSpPr/>
              <p:nvPr/>
            </p:nvSpPr>
            <p:spPr>
              <a:xfrm>
                <a:off x="5839730" y="908068"/>
                <a:ext cx="5588540" cy="1080000"/>
              </a:xfrm>
              <a:prstGeom prst="roundRect">
                <a:avLst>
                  <a:gd name="adj" fmla="val 50000"/>
                </a:avLst>
              </a:prstGeom>
              <a:solidFill>
                <a:srgbClr val="003D5B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  <p:sp>
            <p:nvSpPr>
              <p:cNvPr id="50" name="Rectangle : coins arrondis 49">
                <a:extLst>
                  <a:ext uri="{FF2B5EF4-FFF2-40B4-BE49-F238E27FC236}">
                    <a16:creationId xmlns:a16="http://schemas.microsoft.com/office/drawing/2014/main" id="{84DA85A7-76F7-4F83-AC5C-43D3678A09D6}"/>
                  </a:ext>
                </a:extLst>
              </p:cNvPr>
              <p:cNvSpPr/>
              <p:nvPr/>
            </p:nvSpPr>
            <p:spPr>
              <a:xfrm>
                <a:off x="5992130" y="1060468"/>
                <a:ext cx="5588540" cy="1080000"/>
              </a:xfrm>
              <a:prstGeom prst="roundRect">
                <a:avLst>
                  <a:gd name="adj" fmla="val 50000"/>
                </a:avLst>
              </a:prstGeom>
              <a:solidFill>
                <a:srgbClr val="003D5B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48" name="Rectangle : coins arrondis 47">
              <a:extLst>
                <a:ext uri="{FF2B5EF4-FFF2-40B4-BE49-F238E27FC236}">
                  <a16:creationId xmlns:a16="http://schemas.microsoft.com/office/drawing/2014/main" id="{9CD662C8-FFB7-48C5-8564-43584AC7079B}"/>
                </a:ext>
              </a:extLst>
            </p:cNvPr>
            <p:cNvSpPr/>
            <p:nvPr/>
          </p:nvSpPr>
          <p:spPr>
            <a:xfrm>
              <a:off x="12654480" y="646831"/>
              <a:ext cx="5112000" cy="79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EC2E7709-2515-4BA8-8639-FA284A2FB54C}"/>
              </a:ext>
            </a:extLst>
          </p:cNvPr>
          <p:cNvGrpSpPr/>
          <p:nvPr/>
        </p:nvGrpSpPr>
        <p:grpSpPr>
          <a:xfrm>
            <a:off x="6085400" y="358262"/>
            <a:ext cx="5758870" cy="1232400"/>
            <a:chOff x="12322080" y="358262"/>
            <a:chExt cx="5758870" cy="1232400"/>
          </a:xfrm>
        </p:grpSpPr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EF31916B-9AE8-494E-80D1-3DC53BF62997}"/>
                </a:ext>
              </a:extLst>
            </p:cNvPr>
            <p:cNvGrpSpPr/>
            <p:nvPr/>
          </p:nvGrpSpPr>
          <p:grpSpPr>
            <a:xfrm>
              <a:off x="12322080" y="358262"/>
              <a:ext cx="5740940" cy="1232400"/>
              <a:chOff x="12322080" y="421345"/>
              <a:chExt cx="5740940" cy="1232400"/>
            </a:xfrm>
          </p:grpSpPr>
          <p:grpSp>
            <p:nvGrpSpPr>
              <p:cNvPr id="22" name="Groupe 21">
                <a:extLst>
                  <a:ext uri="{FF2B5EF4-FFF2-40B4-BE49-F238E27FC236}">
                    <a16:creationId xmlns:a16="http://schemas.microsoft.com/office/drawing/2014/main" id="{59EE6664-0054-4D2F-BDA9-C08BAA220B7F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0" name="Rectangle : coins arrondis 19">
                  <a:extLst>
                    <a:ext uri="{FF2B5EF4-FFF2-40B4-BE49-F238E27FC236}">
                      <a16:creationId xmlns:a16="http://schemas.microsoft.com/office/drawing/2014/main" id="{0575F5C0-9A2A-44B3-8477-4C0FA02CC546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21" name="Rectangle : coins arrondis 20">
                  <a:extLst>
                    <a:ext uri="{FF2B5EF4-FFF2-40B4-BE49-F238E27FC236}">
                      <a16:creationId xmlns:a16="http://schemas.microsoft.com/office/drawing/2014/main" id="{789889D9-E414-4A8D-A1C8-04092D5C08A7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4" name="Rectangle : coins arrondis 33">
                <a:extLst>
                  <a:ext uri="{FF2B5EF4-FFF2-40B4-BE49-F238E27FC236}">
                    <a16:creationId xmlns:a16="http://schemas.microsoft.com/office/drawing/2014/main" id="{899E47AA-D7DB-46E4-B45D-404B1E8E4C95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1C5611C1-5969-4699-9A82-898921F8580D}"/>
                </a:ext>
              </a:extLst>
            </p:cNvPr>
            <p:cNvSpPr txBox="1"/>
            <p:nvPr/>
          </p:nvSpPr>
          <p:spPr>
            <a:xfrm>
              <a:off x="12838390" y="67124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MAHATODY Thomas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Directeur de l’Ecole National d’Informatique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AAFDA031-F437-42B2-A19C-1A0480884E7B}"/>
              </a:ext>
            </a:extLst>
          </p:cNvPr>
          <p:cNvGrpSpPr/>
          <p:nvPr/>
        </p:nvGrpSpPr>
        <p:grpSpPr>
          <a:xfrm>
            <a:off x="6108848" y="1979874"/>
            <a:ext cx="11981772" cy="2548233"/>
            <a:chOff x="12322080" y="1979874"/>
            <a:chExt cx="11981772" cy="2548233"/>
          </a:xfrm>
        </p:grpSpPr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3A986D1D-2313-4C6E-BDA0-1ABDC38A5417}"/>
                </a:ext>
              </a:extLst>
            </p:cNvPr>
            <p:cNvGrpSpPr/>
            <p:nvPr/>
          </p:nvGrpSpPr>
          <p:grpSpPr>
            <a:xfrm>
              <a:off x="12322080" y="1979874"/>
              <a:ext cx="5740940" cy="1232400"/>
              <a:chOff x="12322080" y="421345"/>
              <a:chExt cx="5740940" cy="1232400"/>
            </a:xfrm>
          </p:grpSpPr>
          <p:grpSp>
            <p:nvGrpSpPr>
              <p:cNvPr id="37" name="Groupe 36">
                <a:extLst>
                  <a:ext uri="{FF2B5EF4-FFF2-40B4-BE49-F238E27FC236}">
                    <a16:creationId xmlns:a16="http://schemas.microsoft.com/office/drawing/2014/main" id="{38058673-2A8D-4658-B2AB-6623ED1E2DC7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39" name="Rectangle : coins arrondis 38">
                  <a:extLst>
                    <a:ext uri="{FF2B5EF4-FFF2-40B4-BE49-F238E27FC236}">
                      <a16:creationId xmlns:a16="http://schemas.microsoft.com/office/drawing/2014/main" id="{11A149D8-989C-493E-A5D5-A223BEB28B88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40" name="Rectangle : coins arrondis 39">
                  <a:extLst>
                    <a:ext uri="{FF2B5EF4-FFF2-40B4-BE49-F238E27FC236}">
                      <a16:creationId xmlns:a16="http://schemas.microsoft.com/office/drawing/2014/main" id="{3B66B50F-4C4A-4EAE-BF6F-387A66EF6736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8" name="Rectangle : coins arrondis 37">
                <a:extLst>
                  <a:ext uri="{FF2B5EF4-FFF2-40B4-BE49-F238E27FC236}">
                    <a16:creationId xmlns:a16="http://schemas.microsoft.com/office/drawing/2014/main" id="{9B82BC5A-52B5-4BB3-8A15-E7F200D51A8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04822111-3315-41AF-8842-852598AC6830}"/>
                </a:ext>
              </a:extLst>
            </p:cNvPr>
            <p:cNvSpPr txBox="1"/>
            <p:nvPr/>
          </p:nvSpPr>
          <p:spPr>
            <a:xfrm>
              <a:off x="19061292" y="3912554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RABENJANAHARY A. Kevin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Encadreur professionnel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53" name="ZoneTexte 52">
            <a:extLst>
              <a:ext uri="{FF2B5EF4-FFF2-40B4-BE49-F238E27FC236}">
                <a16:creationId xmlns:a16="http://schemas.microsoft.com/office/drawing/2014/main" id="{FA36ABDA-6CC4-497B-934A-BD53B21412A4}"/>
              </a:ext>
            </a:extLst>
          </p:cNvPr>
          <p:cNvSpPr txBox="1"/>
          <p:nvPr/>
        </p:nvSpPr>
        <p:spPr>
          <a:xfrm>
            <a:off x="6526898" y="2298732"/>
            <a:ext cx="52425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scadia Code" panose="020B0609020000020004" pitchFamily="49" charset="0"/>
                <a:cs typeface="Cascadia Code" panose="020B0609020000020004" pitchFamily="49" charset="0"/>
              </a:rPr>
              <a:t>Mr RAKOTOHASIMBAHOAKA cyprien Robert</a:t>
            </a:r>
          </a:p>
          <a:p>
            <a:r>
              <a:rPr lang="fr-FR" sz="1600" dirty="0">
                <a:latin typeface="+mj-lt"/>
                <a:cs typeface="Cascadia Code" panose="020B0609020000020004" pitchFamily="49" charset="0"/>
              </a:rPr>
              <a:t>Maître de Conférence, Encadreur pédagogique</a:t>
            </a:r>
            <a:endParaRPr lang="fr-MG" sz="1600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2140E54F-E08B-4D22-A2BA-D3E7999D71C4}"/>
              </a:ext>
            </a:extLst>
          </p:cNvPr>
          <p:cNvSpPr/>
          <p:nvPr/>
        </p:nvSpPr>
        <p:spPr>
          <a:xfrm>
            <a:off x="315603" y="937591"/>
            <a:ext cx="5076000" cy="507600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25E2CC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A2F767F5-0DE6-48D8-9542-E03E306DC25C}"/>
              </a:ext>
            </a:extLst>
          </p:cNvPr>
          <p:cNvSpPr txBox="1"/>
          <p:nvPr/>
        </p:nvSpPr>
        <p:spPr>
          <a:xfrm>
            <a:off x="12835510" y="5705430"/>
            <a:ext cx="524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scadia Code" panose="020B0609020000020004" pitchFamily="49" charset="0"/>
                <a:cs typeface="Cascadia Code" panose="020B0609020000020004" pitchFamily="49" charset="0"/>
              </a:rPr>
              <a:t>Les membre de la commission du jury</a:t>
            </a:r>
            <a:endParaRPr lang="fr-MG" sz="1600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009137E-1B2A-40F0-8335-E4D0DCD5A5AD}"/>
              </a:ext>
            </a:extLst>
          </p:cNvPr>
          <p:cNvSpPr txBox="1"/>
          <p:nvPr/>
        </p:nvSpPr>
        <p:spPr>
          <a:xfrm>
            <a:off x="-539161" y="3038545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Remerciements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10341AF9-44AE-4820-B9FF-CC3E06D401FD}"/>
              </a:ext>
            </a:extLst>
          </p:cNvPr>
          <p:cNvSpPr/>
          <p:nvPr/>
        </p:nvSpPr>
        <p:spPr>
          <a:xfrm>
            <a:off x="862180" y="5570923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BB67C970-E728-4B88-8F6C-504B45243F1D}"/>
              </a:ext>
            </a:extLst>
          </p:cNvPr>
          <p:cNvSpPr/>
          <p:nvPr/>
        </p:nvSpPr>
        <p:spPr>
          <a:xfrm>
            <a:off x="4609566" y="124409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406762C0-594B-4C7F-9A88-7F0A36A1D917}"/>
              </a:ext>
            </a:extLst>
          </p:cNvPr>
          <p:cNvSpPr/>
          <p:nvPr/>
        </p:nvSpPr>
        <p:spPr>
          <a:xfrm>
            <a:off x="403730" y="6013591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5EABE3D5-FC2B-4518-B832-8E6CBBB41687}"/>
              </a:ext>
            </a:extLst>
          </p:cNvPr>
          <p:cNvSpPr/>
          <p:nvPr/>
        </p:nvSpPr>
        <p:spPr>
          <a:xfrm>
            <a:off x="5391603" y="937591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B5149046-A543-4FD1-88B5-5DB6404FC81C}"/>
              </a:ext>
            </a:extLst>
          </p:cNvPr>
          <p:cNvSpPr/>
          <p:nvPr/>
        </p:nvSpPr>
        <p:spPr>
          <a:xfrm>
            <a:off x="1123730" y="563480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8244243C-AB65-4DA8-AF8F-310D1E7DD9D9}"/>
              </a:ext>
            </a:extLst>
          </p:cNvPr>
          <p:cNvSpPr/>
          <p:nvPr/>
        </p:nvSpPr>
        <p:spPr>
          <a:xfrm>
            <a:off x="5211603" y="17826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6683164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F8A96B4-B071-435A-901B-B38ABD02538E}"/>
              </a:ext>
            </a:extLst>
          </p:cNvPr>
          <p:cNvSpPr/>
          <p:nvPr/>
        </p:nvSpPr>
        <p:spPr>
          <a:xfrm rot="5400000">
            <a:off x="-489466" y="-1525417"/>
            <a:ext cx="6712228" cy="4205835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08F86E1D-331A-4511-95A2-BDA343DF5EC4}"/>
              </a:ext>
            </a:extLst>
          </p:cNvPr>
          <p:cNvGrpSpPr/>
          <p:nvPr/>
        </p:nvGrpSpPr>
        <p:grpSpPr>
          <a:xfrm>
            <a:off x="12340010" y="5249166"/>
            <a:ext cx="5740940" cy="1232400"/>
            <a:chOff x="12322080" y="421345"/>
            <a:chExt cx="5740940" cy="1232400"/>
          </a:xfrm>
        </p:grpSpPr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7BC19DCE-AE1D-4919-87C2-BE67FCEF90EB}"/>
                </a:ext>
              </a:extLst>
            </p:cNvPr>
            <p:cNvGrpSpPr/>
            <p:nvPr/>
          </p:nvGrpSpPr>
          <p:grpSpPr>
            <a:xfrm>
              <a:off x="12322080" y="421345"/>
              <a:ext cx="5740940" cy="1232400"/>
              <a:chOff x="5839730" y="908068"/>
              <a:chExt cx="5740940" cy="1232400"/>
            </a:xfrm>
          </p:grpSpPr>
          <p:sp>
            <p:nvSpPr>
              <p:cNvPr id="49" name="Rectangle : coins arrondis 48">
                <a:extLst>
                  <a:ext uri="{FF2B5EF4-FFF2-40B4-BE49-F238E27FC236}">
                    <a16:creationId xmlns:a16="http://schemas.microsoft.com/office/drawing/2014/main" id="{C1C1F097-E0BD-4DA6-8149-4EEADAC4AF1E}"/>
                  </a:ext>
                </a:extLst>
              </p:cNvPr>
              <p:cNvSpPr/>
              <p:nvPr/>
            </p:nvSpPr>
            <p:spPr>
              <a:xfrm>
                <a:off x="5839730" y="908068"/>
                <a:ext cx="5588540" cy="1080000"/>
              </a:xfrm>
              <a:prstGeom prst="roundRect">
                <a:avLst>
                  <a:gd name="adj" fmla="val 50000"/>
                </a:avLst>
              </a:prstGeom>
              <a:solidFill>
                <a:srgbClr val="003D5B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  <p:sp>
            <p:nvSpPr>
              <p:cNvPr id="50" name="Rectangle : coins arrondis 49">
                <a:extLst>
                  <a:ext uri="{FF2B5EF4-FFF2-40B4-BE49-F238E27FC236}">
                    <a16:creationId xmlns:a16="http://schemas.microsoft.com/office/drawing/2014/main" id="{84DA85A7-76F7-4F83-AC5C-43D3678A09D6}"/>
                  </a:ext>
                </a:extLst>
              </p:cNvPr>
              <p:cNvSpPr/>
              <p:nvPr/>
            </p:nvSpPr>
            <p:spPr>
              <a:xfrm>
                <a:off x="5992130" y="1060468"/>
                <a:ext cx="5588540" cy="1080000"/>
              </a:xfrm>
              <a:prstGeom prst="roundRect">
                <a:avLst>
                  <a:gd name="adj" fmla="val 50000"/>
                </a:avLst>
              </a:prstGeom>
              <a:solidFill>
                <a:srgbClr val="003D5B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48" name="Rectangle : coins arrondis 47">
              <a:extLst>
                <a:ext uri="{FF2B5EF4-FFF2-40B4-BE49-F238E27FC236}">
                  <a16:creationId xmlns:a16="http://schemas.microsoft.com/office/drawing/2014/main" id="{9CD662C8-FFB7-48C5-8564-43584AC7079B}"/>
                </a:ext>
              </a:extLst>
            </p:cNvPr>
            <p:cNvSpPr/>
            <p:nvPr/>
          </p:nvSpPr>
          <p:spPr>
            <a:xfrm>
              <a:off x="12654480" y="646831"/>
              <a:ext cx="5112000" cy="79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EC2E7709-2515-4BA8-8639-FA284A2FB54C}"/>
              </a:ext>
            </a:extLst>
          </p:cNvPr>
          <p:cNvGrpSpPr/>
          <p:nvPr/>
        </p:nvGrpSpPr>
        <p:grpSpPr>
          <a:xfrm>
            <a:off x="6085400" y="358262"/>
            <a:ext cx="5758870" cy="1232400"/>
            <a:chOff x="12322080" y="358262"/>
            <a:chExt cx="5758870" cy="1232400"/>
          </a:xfrm>
        </p:grpSpPr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EF31916B-9AE8-494E-80D1-3DC53BF62997}"/>
                </a:ext>
              </a:extLst>
            </p:cNvPr>
            <p:cNvGrpSpPr/>
            <p:nvPr/>
          </p:nvGrpSpPr>
          <p:grpSpPr>
            <a:xfrm>
              <a:off x="12322080" y="358262"/>
              <a:ext cx="5740940" cy="1232400"/>
              <a:chOff x="12322080" y="421345"/>
              <a:chExt cx="5740940" cy="1232400"/>
            </a:xfrm>
          </p:grpSpPr>
          <p:grpSp>
            <p:nvGrpSpPr>
              <p:cNvPr id="22" name="Groupe 21">
                <a:extLst>
                  <a:ext uri="{FF2B5EF4-FFF2-40B4-BE49-F238E27FC236}">
                    <a16:creationId xmlns:a16="http://schemas.microsoft.com/office/drawing/2014/main" id="{59EE6664-0054-4D2F-BDA9-C08BAA220B7F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0" name="Rectangle : coins arrondis 19">
                  <a:extLst>
                    <a:ext uri="{FF2B5EF4-FFF2-40B4-BE49-F238E27FC236}">
                      <a16:creationId xmlns:a16="http://schemas.microsoft.com/office/drawing/2014/main" id="{0575F5C0-9A2A-44B3-8477-4C0FA02CC546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21" name="Rectangle : coins arrondis 20">
                  <a:extLst>
                    <a:ext uri="{FF2B5EF4-FFF2-40B4-BE49-F238E27FC236}">
                      <a16:creationId xmlns:a16="http://schemas.microsoft.com/office/drawing/2014/main" id="{789889D9-E414-4A8D-A1C8-04092D5C08A7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4" name="Rectangle : coins arrondis 33">
                <a:extLst>
                  <a:ext uri="{FF2B5EF4-FFF2-40B4-BE49-F238E27FC236}">
                    <a16:creationId xmlns:a16="http://schemas.microsoft.com/office/drawing/2014/main" id="{899E47AA-D7DB-46E4-B45D-404B1E8E4C95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1C5611C1-5969-4699-9A82-898921F8580D}"/>
                </a:ext>
              </a:extLst>
            </p:cNvPr>
            <p:cNvSpPr txBox="1"/>
            <p:nvPr/>
          </p:nvSpPr>
          <p:spPr>
            <a:xfrm>
              <a:off x="12838390" y="67124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MAHATODY Thomas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Directeur de l’Ecole National d’Informatique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A8F81E26-786B-42E3-9B1A-8C871C41EBDA}"/>
              </a:ext>
            </a:extLst>
          </p:cNvPr>
          <p:cNvGrpSpPr/>
          <p:nvPr/>
        </p:nvGrpSpPr>
        <p:grpSpPr>
          <a:xfrm>
            <a:off x="6108848" y="3601486"/>
            <a:ext cx="5740940" cy="1232400"/>
            <a:chOff x="12322080" y="421345"/>
            <a:chExt cx="5740940" cy="1232400"/>
          </a:xfrm>
        </p:grpSpPr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7200BAD3-64E3-47FB-B6C9-3246B55D32C8}"/>
                </a:ext>
              </a:extLst>
            </p:cNvPr>
            <p:cNvGrpSpPr/>
            <p:nvPr/>
          </p:nvGrpSpPr>
          <p:grpSpPr>
            <a:xfrm>
              <a:off x="12322080" y="421345"/>
              <a:ext cx="5740940" cy="1232400"/>
              <a:chOff x="5839730" y="908068"/>
              <a:chExt cx="5740940" cy="1232400"/>
            </a:xfrm>
          </p:grpSpPr>
          <p:sp>
            <p:nvSpPr>
              <p:cNvPr id="44" name="Rectangle : coins arrondis 43">
                <a:extLst>
                  <a:ext uri="{FF2B5EF4-FFF2-40B4-BE49-F238E27FC236}">
                    <a16:creationId xmlns:a16="http://schemas.microsoft.com/office/drawing/2014/main" id="{5DCEE930-C631-4A5D-8706-3ED1AB8383B5}"/>
                  </a:ext>
                </a:extLst>
              </p:cNvPr>
              <p:cNvSpPr/>
              <p:nvPr/>
            </p:nvSpPr>
            <p:spPr>
              <a:xfrm>
                <a:off x="5839730" y="908068"/>
                <a:ext cx="5588540" cy="1080000"/>
              </a:xfrm>
              <a:prstGeom prst="roundRect">
                <a:avLst>
                  <a:gd name="adj" fmla="val 50000"/>
                </a:avLst>
              </a:prstGeom>
              <a:solidFill>
                <a:srgbClr val="003D5B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  <p:sp>
            <p:nvSpPr>
              <p:cNvPr id="45" name="Rectangle : coins arrondis 44">
                <a:extLst>
                  <a:ext uri="{FF2B5EF4-FFF2-40B4-BE49-F238E27FC236}">
                    <a16:creationId xmlns:a16="http://schemas.microsoft.com/office/drawing/2014/main" id="{52F4637B-2EC5-4AF4-9701-4F7ADCB4195F}"/>
                  </a:ext>
                </a:extLst>
              </p:cNvPr>
              <p:cNvSpPr/>
              <p:nvPr/>
            </p:nvSpPr>
            <p:spPr>
              <a:xfrm>
                <a:off x="5992130" y="1060468"/>
                <a:ext cx="5588540" cy="1080000"/>
              </a:xfrm>
              <a:prstGeom prst="roundRect">
                <a:avLst>
                  <a:gd name="adj" fmla="val 50000"/>
                </a:avLst>
              </a:prstGeom>
              <a:solidFill>
                <a:srgbClr val="003D5B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43" name="Rectangle : coins arrondis 42">
              <a:extLst>
                <a:ext uri="{FF2B5EF4-FFF2-40B4-BE49-F238E27FC236}">
                  <a16:creationId xmlns:a16="http://schemas.microsoft.com/office/drawing/2014/main" id="{7C06B8B7-2E70-43F8-9C72-EC0A370C5D59}"/>
                </a:ext>
              </a:extLst>
            </p:cNvPr>
            <p:cNvSpPr/>
            <p:nvPr/>
          </p:nvSpPr>
          <p:spPr>
            <a:xfrm>
              <a:off x="12654480" y="646831"/>
              <a:ext cx="5112000" cy="79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AAFDA031-F437-42B2-A19C-1A0480884E7B}"/>
              </a:ext>
            </a:extLst>
          </p:cNvPr>
          <p:cNvGrpSpPr/>
          <p:nvPr/>
        </p:nvGrpSpPr>
        <p:grpSpPr>
          <a:xfrm>
            <a:off x="6108848" y="1979874"/>
            <a:ext cx="5740940" cy="2541029"/>
            <a:chOff x="12322080" y="1979874"/>
            <a:chExt cx="5740940" cy="2541029"/>
          </a:xfrm>
        </p:grpSpPr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3A986D1D-2313-4C6E-BDA0-1ABDC38A5417}"/>
                </a:ext>
              </a:extLst>
            </p:cNvPr>
            <p:cNvGrpSpPr/>
            <p:nvPr/>
          </p:nvGrpSpPr>
          <p:grpSpPr>
            <a:xfrm>
              <a:off x="12322080" y="1979874"/>
              <a:ext cx="5740940" cy="1232400"/>
              <a:chOff x="12322080" y="421345"/>
              <a:chExt cx="5740940" cy="1232400"/>
            </a:xfrm>
          </p:grpSpPr>
          <p:grpSp>
            <p:nvGrpSpPr>
              <p:cNvPr id="37" name="Groupe 36">
                <a:extLst>
                  <a:ext uri="{FF2B5EF4-FFF2-40B4-BE49-F238E27FC236}">
                    <a16:creationId xmlns:a16="http://schemas.microsoft.com/office/drawing/2014/main" id="{38058673-2A8D-4658-B2AB-6623ED1E2DC7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39" name="Rectangle : coins arrondis 38">
                  <a:extLst>
                    <a:ext uri="{FF2B5EF4-FFF2-40B4-BE49-F238E27FC236}">
                      <a16:creationId xmlns:a16="http://schemas.microsoft.com/office/drawing/2014/main" id="{11A149D8-989C-493E-A5D5-A223BEB28B88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40" name="Rectangle : coins arrondis 39">
                  <a:extLst>
                    <a:ext uri="{FF2B5EF4-FFF2-40B4-BE49-F238E27FC236}">
                      <a16:creationId xmlns:a16="http://schemas.microsoft.com/office/drawing/2014/main" id="{3B66B50F-4C4A-4EAE-BF6F-387A66EF6736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8" name="Rectangle : coins arrondis 37">
                <a:extLst>
                  <a:ext uri="{FF2B5EF4-FFF2-40B4-BE49-F238E27FC236}">
                    <a16:creationId xmlns:a16="http://schemas.microsoft.com/office/drawing/2014/main" id="{9B82BC5A-52B5-4BB3-8A15-E7F200D51A8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04822111-3315-41AF-8842-852598AC6830}"/>
                </a:ext>
              </a:extLst>
            </p:cNvPr>
            <p:cNvSpPr txBox="1"/>
            <p:nvPr/>
          </p:nvSpPr>
          <p:spPr>
            <a:xfrm>
              <a:off x="12740130" y="3905350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RABENJANAHARY A. Kevin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Encadreur professionnel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53" name="ZoneTexte 52">
            <a:extLst>
              <a:ext uri="{FF2B5EF4-FFF2-40B4-BE49-F238E27FC236}">
                <a16:creationId xmlns:a16="http://schemas.microsoft.com/office/drawing/2014/main" id="{FA36ABDA-6CC4-497B-934A-BD53B21412A4}"/>
              </a:ext>
            </a:extLst>
          </p:cNvPr>
          <p:cNvSpPr txBox="1"/>
          <p:nvPr/>
        </p:nvSpPr>
        <p:spPr>
          <a:xfrm>
            <a:off x="6583780" y="2277952"/>
            <a:ext cx="52425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scadia Code" panose="020B0609020000020004" pitchFamily="49" charset="0"/>
                <a:cs typeface="Cascadia Code" panose="020B0609020000020004" pitchFamily="49" charset="0"/>
              </a:rPr>
              <a:t>Mr RAKOTOHASIMBAHOAKA cyprien Robert</a:t>
            </a:r>
          </a:p>
          <a:p>
            <a:r>
              <a:rPr lang="fr-FR" sz="1600" dirty="0">
                <a:latin typeface="+mj-lt"/>
                <a:cs typeface="Cascadia Code" panose="020B0609020000020004" pitchFamily="49" charset="0"/>
              </a:rPr>
              <a:t>Maître de Conférence, Encadreur pédagogique</a:t>
            </a:r>
            <a:endParaRPr lang="fr-MG" sz="1600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A2F767F5-0DE6-48D8-9542-E03E306DC25C}"/>
              </a:ext>
            </a:extLst>
          </p:cNvPr>
          <p:cNvSpPr txBox="1"/>
          <p:nvPr/>
        </p:nvSpPr>
        <p:spPr>
          <a:xfrm>
            <a:off x="12835510" y="5705430"/>
            <a:ext cx="524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scadia Code" panose="020B0609020000020004" pitchFamily="49" charset="0"/>
                <a:cs typeface="Cascadia Code" panose="020B0609020000020004" pitchFamily="49" charset="0"/>
              </a:rPr>
              <a:t>Les membre de la commission du jury</a:t>
            </a:r>
            <a:endParaRPr lang="fr-MG" sz="1600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3F80A65A-871B-4E7C-85DF-7B6B0373BBE9}"/>
              </a:ext>
            </a:extLst>
          </p:cNvPr>
          <p:cNvSpPr/>
          <p:nvPr/>
        </p:nvSpPr>
        <p:spPr>
          <a:xfrm>
            <a:off x="315603" y="937591"/>
            <a:ext cx="5076000" cy="507600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25E2CC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009137E-1B2A-40F0-8335-E4D0DCD5A5AD}"/>
              </a:ext>
            </a:extLst>
          </p:cNvPr>
          <p:cNvSpPr txBox="1"/>
          <p:nvPr/>
        </p:nvSpPr>
        <p:spPr>
          <a:xfrm>
            <a:off x="-539161" y="3038545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Remerciements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9509B131-F9DB-4E60-B48B-8397FD688CA7}"/>
              </a:ext>
            </a:extLst>
          </p:cNvPr>
          <p:cNvSpPr/>
          <p:nvPr/>
        </p:nvSpPr>
        <p:spPr>
          <a:xfrm>
            <a:off x="862180" y="5570923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B5BBE26A-83CA-44C1-994F-3E06F9400F95}"/>
              </a:ext>
            </a:extLst>
          </p:cNvPr>
          <p:cNvSpPr/>
          <p:nvPr/>
        </p:nvSpPr>
        <p:spPr>
          <a:xfrm>
            <a:off x="4609566" y="124409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2748C517-33E0-4E55-9AD1-9780643D45AE}"/>
              </a:ext>
            </a:extLst>
          </p:cNvPr>
          <p:cNvSpPr/>
          <p:nvPr/>
        </p:nvSpPr>
        <p:spPr>
          <a:xfrm>
            <a:off x="403730" y="6013591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F22BAEC4-3895-4735-AC40-77775B9D6DB2}"/>
              </a:ext>
            </a:extLst>
          </p:cNvPr>
          <p:cNvSpPr/>
          <p:nvPr/>
        </p:nvSpPr>
        <p:spPr>
          <a:xfrm>
            <a:off x="5391603" y="937591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3B68990D-1CF8-4EDD-9EF7-4A77D24E24D4}"/>
              </a:ext>
            </a:extLst>
          </p:cNvPr>
          <p:cNvSpPr/>
          <p:nvPr/>
        </p:nvSpPr>
        <p:spPr>
          <a:xfrm>
            <a:off x="1123730" y="563480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5F69C36F-3EF8-4377-90C9-D5AC76FB3DD2}"/>
              </a:ext>
            </a:extLst>
          </p:cNvPr>
          <p:cNvSpPr/>
          <p:nvPr/>
        </p:nvSpPr>
        <p:spPr>
          <a:xfrm>
            <a:off x="5211603" y="17826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5561337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e 41">
            <a:extLst>
              <a:ext uri="{FF2B5EF4-FFF2-40B4-BE49-F238E27FC236}">
                <a16:creationId xmlns:a16="http://schemas.microsoft.com/office/drawing/2014/main" id="{7200BAD3-64E3-47FB-B6C9-3246B55D32C8}"/>
              </a:ext>
            </a:extLst>
          </p:cNvPr>
          <p:cNvGrpSpPr/>
          <p:nvPr/>
        </p:nvGrpSpPr>
        <p:grpSpPr>
          <a:xfrm>
            <a:off x="6108848" y="3601486"/>
            <a:ext cx="5740940" cy="1232400"/>
            <a:chOff x="5839730" y="908068"/>
            <a:chExt cx="5740940" cy="1232400"/>
          </a:xfrm>
        </p:grpSpPr>
        <p:sp>
          <p:nvSpPr>
            <p:cNvPr id="44" name="Rectangle : coins arrondis 43">
              <a:extLst>
                <a:ext uri="{FF2B5EF4-FFF2-40B4-BE49-F238E27FC236}">
                  <a16:creationId xmlns:a16="http://schemas.microsoft.com/office/drawing/2014/main" id="{5DCEE930-C631-4A5D-8706-3ED1AB8383B5}"/>
                </a:ext>
              </a:extLst>
            </p:cNvPr>
            <p:cNvSpPr/>
            <p:nvPr/>
          </p:nvSpPr>
          <p:spPr>
            <a:xfrm>
              <a:off x="5839730" y="908068"/>
              <a:ext cx="5588540" cy="1080000"/>
            </a:xfrm>
            <a:prstGeom prst="roundRect">
              <a:avLst>
                <a:gd name="adj" fmla="val 50000"/>
              </a:avLst>
            </a:prstGeom>
            <a:solidFill>
              <a:srgbClr val="003D5B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45" name="Rectangle : coins arrondis 44">
              <a:extLst>
                <a:ext uri="{FF2B5EF4-FFF2-40B4-BE49-F238E27FC236}">
                  <a16:creationId xmlns:a16="http://schemas.microsoft.com/office/drawing/2014/main" id="{52F4637B-2EC5-4AF4-9701-4F7ADCB4195F}"/>
                </a:ext>
              </a:extLst>
            </p:cNvPr>
            <p:cNvSpPr/>
            <p:nvPr/>
          </p:nvSpPr>
          <p:spPr>
            <a:xfrm>
              <a:off x="5992130" y="1060468"/>
              <a:ext cx="5588540" cy="1080000"/>
            </a:xfrm>
            <a:prstGeom prst="roundRect">
              <a:avLst>
                <a:gd name="adj" fmla="val 50000"/>
              </a:avLst>
            </a:prstGeom>
            <a:solidFill>
              <a:srgbClr val="003D5B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</p:grp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F8A96B4-B071-435A-901B-B38ABD02538E}"/>
              </a:ext>
            </a:extLst>
          </p:cNvPr>
          <p:cNvSpPr/>
          <p:nvPr/>
        </p:nvSpPr>
        <p:spPr>
          <a:xfrm rot="5400000">
            <a:off x="-489465" y="-1631435"/>
            <a:ext cx="6712228" cy="4205835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EC2E7709-2515-4BA8-8639-FA284A2FB54C}"/>
              </a:ext>
            </a:extLst>
          </p:cNvPr>
          <p:cNvGrpSpPr/>
          <p:nvPr/>
        </p:nvGrpSpPr>
        <p:grpSpPr>
          <a:xfrm>
            <a:off x="6085400" y="358262"/>
            <a:ext cx="5758870" cy="1232400"/>
            <a:chOff x="12322080" y="358262"/>
            <a:chExt cx="5758870" cy="1232400"/>
          </a:xfrm>
        </p:grpSpPr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EF31916B-9AE8-494E-80D1-3DC53BF62997}"/>
                </a:ext>
              </a:extLst>
            </p:cNvPr>
            <p:cNvGrpSpPr/>
            <p:nvPr/>
          </p:nvGrpSpPr>
          <p:grpSpPr>
            <a:xfrm>
              <a:off x="12322080" y="358262"/>
              <a:ext cx="5740940" cy="1232400"/>
              <a:chOff x="12322080" y="421345"/>
              <a:chExt cx="5740940" cy="1232400"/>
            </a:xfrm>
          </p:grpSpPr>
          <p:grpSp>
            <p:nvGrpSpPr>
              <p:cNvPr id="22" name="Groupe 21">
                <a:extLst>
                  <a:ext uri="{FF2B5EF4-FFF2-40B4-BE49-F238E27FC236}">
                    <a16:creationId xmlns:a16="http://schemas.microsoft.com/office/drawing/2014/main" id="{59EE6664-0054-4D2F-BDA9-C08BAA220B7F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0" name="Rectangle : coins arrondis 19">
                  <a:extLst>
                    <a:ext uri="{FF2B5EF4-FFF2-40B4-BE49-F238E27FC236}">
                      <a16:creationId xmlns:a16="http://schemas.microsoft.com/office/drawing/2014/main" id="{0575F5C0-9A2A-44B3-8477-4C0FA02CC546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21" name="Rectangle : coins arrondis 20">
                  <a:extLst>
                    <a:ext uri="{FF2B5EF4-FFF2-40B4-BE49-F238E27FC236}">
                      <a16:creationId xmlns:a16="http://schemas.microsoft.com/office/drawing/2014/main" id="{789889D9-E414-4A8D-A1C8-04092D5C08A7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4" name="Rectangle : coins arrondis 33">
                <a:extLst>
                  <a:ext uri="{FF2B5EF4-FFF2-40B4-BE49-F238E27FC236}">
                    <a16:creationId xmlns:a16="http://schemas.microsoft.com/office/drawing/2014/main" id="{899E47AA-D7DB-46E4-B45D-404B1E8E4C95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1C5611C1-5969-4699-9A82-898921F8580D}"/>
                </a:ext>
              </a:extLst>
            </p:cNvPr>
            <p:cNvSpPr txBox="1"/>
            <p:nvPr/>
          </p:nvSpPr>
          <p:spPr>
            <a:xfrm>
              <a:off x="12838390" y="67124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MAHATODY Thomas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Directeur de l’Ecole National d’Informatique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3A986D1D-2313-4C6E-BDA0-1ABDC38A5417}"/>
              </a:ext>
            </a:extLst>
          </p:cNvPr>
          <p:cNvGrpSpPr/>
          <p:nvPr/>
        </p:nvGrpSpPr>
        <p:grpSpPr>
          <a:xfrm>
            <a:off x="6108848" y="1979874"/>
            <a:ext cx="5740940" cy="1232400"/>
            <a:chOff x="12322080" y="421345"/>
            <a:chExt cx="5740940" cy="1232400"/>
          </a:xfrm>
        </p:grpSpPr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38058673-2A8D-4658-B2AB-6623ED1E2DC7}"/>
                </a:ext>
              </a:extLst>
            </p:cNvPr>
            <p:cNvGrpSpPr/>
            <p:nvPr/>
          </p:nvGrpSpPr>
          <p:grpSpPr>
            <a:xfrm>
              <a:off x="12322080" y="421345"/>
              <a:ext cx="5740940" cy="1232400"/>
              <a:chOff x="5839730" y="908068"/>
              <a:chExt cx="5740940" cy="1232400"/>
            </a:xfrm>
          </p:grpSpPr>
          <p:sp>
            <p:nvSpPr>
              <p:cNvPr id="39" name="Rectangle : coins arrondis 38">
                <a:extLst>
                  <a:ext uri="{FF2B5EF4-FFF2-40B4-BE49-F238E27FC236}">
                    <a16:creationId xmlns:a16="http://schemas.microsoft.com/office/drawing/2014/main" id="{11A149D8-989C-493E-A5D5-A223BEB28B88}"/>
                  </a:ext>
                </a:extLst>
              </p:cNvPr>
              <p:cNvSpPr/>
              <p:nvPr/>
            </p:nvSpPr>
            <p:spPr>
              <a:xfrm>
                <a:off x="5839730" y="908068"/>
                <a:ext cx="5588540" cy="1080000"/>
              </a:xfrm>
              <a:prstGeom prst="roundRect">
                <a:avLst>
                  <a:gd name="adj" fmla="val 50000"/>
                </a:avLst>
              </a:prstGeom>
              <a:solidFill>
                <a:srgbClr val="003D5B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  <p:sp>
            <p:nvSpPr>
              <p:cNvPr id="40" name="Rectangle : coins arrondis 39">
                <a:extLst>
                  <a:ext uri="{FF2B5EF4-FFF2-40B4-BE49-F238E27FC236}">
                    <a16:creationId xmlns:a16="http://schemas.microsoft.com/office/drawing/2014/main" id="{3B66B50F-4C4A-4EAE-BF6F-387A66EF6736}"/>
                  </a:ext>
                </a:extLst>
              </p:cNvPr>
              <p:cNvSpPr/>
              <p:nvPr/>
            </p:nvSpPr>
            <p:spPr>
              <a:xfrm>
                <a:off x="5992130" y="1060468"/>
                <a:ext cx="5588540" cy="1080000"/>
              </a:xfrm>
              <a:prstGeom prst="roundRect">
                <a:avLst>
                  <a:gd name="adj" fmla="val 50000"/>
                </a:avLst>
              </a:prstGeom>
              <a:solidFill>
                <a:srgbClr val="003D5B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38" name="Rectangle : coins arrondis 37">
              <a:extLst>
                <a:ext uri="{FF2B5EF4-FFF2-40B4-BE49-F238E27FC236}">
                  <a16:creationId xmlns:a16="http://schemas.microsoft.com/office/drawing/2014/main" id="{9B82BC5A-52B5-4BB3-8A15-E7F200D51A89}"/>
                </a:ext>
              </a:extLst>
            </p:cNvPr>
            <p:cNvSpPr/>
            <p:nvPr/>
          </p:nvSpPr>
          <p:spPr>
            <a:xfrm>
              <a:off x="12654480" y="646831"/>
              <a:ext cx="5112000" cy="79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</p:grp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7C06B8B7-2E70-43F8-9C72-EC0A370C5D59}"/>
              </a:ext>
            </a:extLst>
          </p:cNvPr>
          <p:cNvSpPr/>
          <p:nvPr/>
        </p:nvSpPr>
        <p:spPr>
          <a:xfrm>
            <a:off x="6459174" y="3827597"/>
            <a:ext cx="5112000" cy="79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FA36ABDA-6CC4-497B-934A-BD53B21412A4}"/>
              </a:ext>
            </a:extLst>
          </p:cNvPr>
          <p:cNvSpPr txBox="1"/>
          <p:nvPr/>
        </p:nvSpPr>
        <p:spPr>
          <a:xfrm>
            <a:off x="6582437" y="2298315"/>
            <a:ext cx="52425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scadia Code" panose="020B0609020000020004" pitchFamily="49" charset="0"/>
                <a:cs typeface="Cascadia Code" panose="020B0609020000020004" pitchFamily="49" charset="0"/>
              </a:rPr>
              <a:t>Mr RAKOTOHASIMBAHOAKA cyprien Robert</a:t>
            </a:r>
          </a:p>
          <a:p>
            <a:r>
              <a:rPr lang="fr-FR" sz="1600" dirty="0">
                <a:latin typeface="+mj-lt"/>
                <a:cs typeface="Cascadia Code" panose="020B0609020000020004" pitchFamily="49" charset="0"/>
              </a:rPr>
              <a:t>Maître de Conférence, Encadreur pédagogique</a:t>
            </a:r>
            <a:endParaRPr lang="fr-MG" sz="1600" dirty="0">
              <a:latin typeface="+mj-lt"/>
              <a:cs typeface="Cascadia Code" panose="020B0609020000020004" pitchFamily="49" charset="0"/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F4287D1-54F7-40E4-9B3F-1BE3ABDFC077}"/>
              </a:ext>
            </a:extLst>
          </p:cNvPr>
          <p:cNvGrpSpPr/>
          <p:nvPr/>
        </p:nvGrpSpPr>
        <p:grpSpPr>
          <a:xfrm>
            <a:off x="6126774" y="5249166"/>
            <a:ext cx="5740940" cy="1232400"/>
            <a:chOff x="12340010" y="5249166"/>
            <a:chExt cx="5740940" cy="1232400"/>
          </a:xfrm>
        </p:grpSpPr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08F86E1D-331A-4511-95A2-BDA343DF5EC4}"/>
                </a:ext>
              </a:extLst>
            </p:cNvPr>
            <p:cNvGrpSpPr/>
            <p:nvPr/>
          </p:nvGrpSpPr>
          <p:grpSpPr>
            <a:xfrm>
              <a:off x="12340010" y="5249166"/>
              <a:ext cx="5740940" cy="1232400"/>
              <a:chOff x="12322080" y="421345"/>
              <a:chExt cx="5740940" cy="1232400"/>
            </a:xfrm>
          </p:grpSpPr>
          <p:grpSp>
            <p:nvGrpSpPr>
              <p:cNvPr id="47" name="Groupe 46">
                <a:extLst>
                  <a:ext uri="{FF2B5EF4-FFF2-40B4-BE49-F238E27FC236}">
                    <a16:creationId xmlns:a16="http://schemas.microsoft.com/office/drawing/2014/main" id="{7BC19DCE-AE1D-4919-87C2-BE67FCEF90EB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49" name="Rectangle : coins arrondis 48">
                  <a:extLst>
                    <a:ext uri="{FF2B5EF4-FFF2-40B4-BE49-F238E27FC236}">
                      <a16:creationId xmlns:a16="http://schemas.microsoft.com/office/drawing/2014/main" id="{C1C1F097-E0BD-4DA6-8149-4EEADAC4AF1E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50" name="Rectangle : coins arrondis 49">
                  <a:extLst>
                    <a:ext uri="{FF2B5EF4-FFF2-40B4-BE49-F238E27FC236}">
                      <a16:creationId xmlns:a16="http://schemas.microsoft.com/office/drawing/2014/main" id="{84DA85A7-76F7-4F83-AC5C-43D3678A09D6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48" name="Rectangle : coins arrondis 47">
                <a:extLst>
                  <a:ext uri="{FF2B5EF4-FFF2-40B4-BE49-F238E27FC236}">
                    <a16:creationId xmlns:a16="http://schemas.microsoft.com/office/drawing/2014/main" id="{9CD662C8-FFB7-48C5-8564-43584AC7079B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A2F767F5-0DE6-48D8-9542-E03E306DC25C}"/>
                </a:ext>
              </a:extLst>
            </p:cNvPr>
            <p:cNvSpPr txBox="1"/>
            <p:nvPr/>
          </p:nvSpPr>
          <p:spPr>
            <a:xfrm>
              <a:off x="12835510" y="5705430"/>
              <a:ext cx="524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Les membres de la commission du jury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55" name="Ellipse 54">
            <a:extLst>
              <a:ext uri="{FF2B5EF4-FFF2-40B4-BE49-F238E27FC236}">
                <a16:creationId xmlns:a16="http://schemas.microsoft.com/office/drawing/2014/main" id="{147DF594-40A3-4FBF-95B7-5636ACF8FF94}"/>
              </a:ext>
            </a:extLst>
          </p:cNvPr>
          <p:cNvSpPr/>
          <p:nvPr/>
        </p:nvSpPr>
        <p:spPr>
          <a:xfrm>
            <a:off x="12401381" y="3198375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4C5F44FB-683A-49BD-B856-B04B4E95B58C}"/>
              </a:ext>
            </a:extLst>
          </p:cNvPr>
          <p:cNvSpPr/>
          <p:nvPr/>
        </p:nvSpPr>
        <p:spPr>
          <a:xfrm>
            <a:off x="315603" y="1043609"/>
            <a:ext cx="5076000" cy="507600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25E2CC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30A953F6-BBCA-4319-BE7D-96A094FEB8DB}"/>
              </a:ext>
            </a:extLst>
          </p:cNvPr>
          <p:cNvSpPr/>
          <p:nvPr/>
        </p:nvSpPr>
        <p:spPr>
          <a:xfrm>
            <a:off x="12761381" y="4065286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009137E-1B2A-40F0-8335-E4D0DCD5A5AD}"/>
              </a:ext>
            </a:extLst>
          </p:cNvPr>
          <p:cNvSpPr txBox="1"/>
          <p:nvPr/>
        </p:nvSpPr>
        <p:spPr>
          <a:xfrm>
            <a:off x="-539161" y="3038545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Remerciements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46FEF2E1-DCFD-42CA-A1FB-650326CAE33E}"/>
              </a:ext>
            </a:extLst>
          </p:cNvPr>
          <p:cNvSpPr/>
          <p:nvPr/>
        </p:nvSpPr>
        <p:spPr>
          <a:xfrm>
            <a:off x="862180" y="5570923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F53B51B0-9CD5-4273-86E2-B66A9D1D766B}"/>
              </a:ext>
            </a:extLst>
          </p:cNvPr>
          <p:cNvSpPr/>
          <p:nvPr/>
        </p:nvSpPr>
        <p:spPr>
          <a:xfrm>
            <a:off x="4609566" y="124409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A6E67B51-7313-402C-96CC-C8582E295E38}"/>
              </a:ext>
            </a:extLst>
          </p:cNvPr>
          <p:cNvSpPr/>
          <p:nvPr/>
        </p:nvSpPr>
        <p:spPr>
          <a:xfrm>
            <a:off x="403730" y="6013591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1F8A2B86-EA99-48EA-BF6C-F6B7734212F8}"/>
              </a:ext>
            </a:extLst>
          </p:cNvPr>
          <p:cNvSpPr/>
          <p:nvPr/>
        </p:nvSpPr>
        <p:spPr>
          <a:xfrm>
            <a:off x="5391603" y="937591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9B425527-B414-4B2E-9FDB-90C964C9683D}"/>
              </a:ext>
            </a:extLst>
          </p:cNvPr>
          <p:cNvSpPr/>
          <p:nvPr/>
        </p:nvSpPr>
        <p:spPr>
          <a:xfrm>
            <a:off x="1123730" y="563480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8F443F8D-A130-41AF-B73A-5C7674C3D0F5}"/>
              </a:ext>
            </a:extLst>
          </p:cNvPr>
          <p:cNvSpPr/>
          <p:nvPr/>
        </p:nvSpPr>
        <p:spPr>
          <a:xfrm>
            <a:off x="5211603" y="17826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04822111-3315-41AF-8842-852598AC6830}"/>
              </a:ext>
            </a:extLst>
          </p:cNvPr>
          <p:cNvSpPr txBox="1"/>
          <p:nvPr/>
        </p:nvSpPr>
        <p:spPr>
          <a:xfrm>
            <a:off x="6622274" y="3925064"/>
            <a:ext cx="52425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scadia Code" panose="020B0609020000020004" pitchFamily="49" charset="0"/>
                <a:cs typeface="Cascadia Code" panose="020B0609020000020004" pitchFamily="49" charset="0"/>
              </a:rPr>
              <a:t>Mr RABENJANAHARY A. Kevin</a:t>
            </a:r>
          </a:p>
          <a:p>
            <a:r>
              <a:rPr lang="fr-FR" sz="1600" dirty="0">
                <a:latin typeface="+mj-lt"/>
                <a:cs typeface="Cascadia Code" panose="020B0609020000020004" pitchFamily="49" charset="0"/>
              </a:rPr>
              <a:t>Encadreur professionnel</a:t>
            </a:r>
            <a:endParaRPr lang="fr-MG" sz="1600" dirty="0">
              <a:latin typeface="+mj-lt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5769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F8A96B4-B071-435A-901B-B38ABD02538E}"/>
              </a:ext>
            </a:extLst>
          </p:cNvPr>
          <p:cNvSpPr/>
          <p:nvPr/>
        </p:nvSpPr>
        <p:spPr>
          <a:xfrm rot="8100000" flipH="1">
            <a:off x="3459014" y="4552564"/>
            <a:ext cx="9288000" cy="3564000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CFE5A9E-EDAB-4D61-839A-7ECA46D9AFB0}"/>
              </a:ext>
            </a:extLst>
          </p:cNvPr>
          <p:cNvSpPr/>
          <p:nvPr/>
        </p:nvSpPr>
        <p:spPr>
          <a:xfrm>
            <a:off x="262216" y="5454802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95FC7776-5663-4265-B9F4-9F488A03F89B}"/>
              </a:ext>
            </a:extLst>
          </p:cNvPr>
          <p:cNvSpPr/>
          <p:nvPr/>
        </p:nvSpPr>
        <p:spPr>
          <a:xfrm>
            <a:off x="982216" y="6334564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EC2E7709-2515-4BA8-8639-FA284A2FB54C}"/>
              </a:ext>
            </a:extLst>
          </p:cNvPr>
          <p:cNvGrpSpPr/>
          <p:nvPr/>
        </p:nvGrpSpPr>
        <p:grpSpPr>
          <a:xfrm>
            <a:off x="6085400" y="-6347338"/>
            <a:ext cx="5758870" cy="1232400"/>
            <a:chOff x="12322080" y="358262"/>
            <a:chExt cx="5758870" cy="1232400"/>
          </a:xfrm>
        </p:grpSpPr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EF31916B-9AE8-494E-80D1-3DC53BF62997}"/>
                </a:ext>
              </a:extLst>
            </p:cNvPr>
            <p:cNvGrpSpPr/>
            <p:nvPr/>
          </p:nvGrpSpPr>
          <p:grpSpPr>
            <a:xfrm>
              <a:off x="12322080" y="358262"/>
              <a:ext cx="5740940" cy="1232400"/>
              <a:chOff x="12322080" y="421345"/>
              <a:chExt cx="5740940" cy="1232400"/>
            </a:xfrm>
          </p:grpSpPr>
          <p:grpSp>
            <p:nvGrpSpPr>
              <p:cNvPr id="22" name="Groupe 21">
                <a:extLst>
                  <a:ext uri="{FF2B5EF4-FFF2-40B4-BE49-F238E27FC236}">
                    <a16:creationId xmlns:a16="http://schemas.microsoft.com/office/drawing/2014/main" id="{59EE6664-0054-4D2F-BDA9-C08BAA220B7F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0" name="Rectangle : coins arrondis 19">
                  <a:extLst>
                    <a:ext uri="{FF2B5EF4-FFF2-40B4-BE49-F238E27FC236}">
                      <a16:creationId xmlns:a16="http://schemas.microsoft.com/office/drawing/2014/main" id="{0575F5C0-9A2A-44B3-8477-4C0FA02CC546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21" name="Rectangle : coins arrondis 20">
                  <a:extLst>
                    <a:ext uri="{FF2B5EF4-FFF2-40B4-BE49-F238E27FC236}">
                      <a16:creationId xmlns:a16="http://schemas.microsoft.com/office/drawing/2014/main" id="{789889D9-E414-4A8D-A1C8-04092D5C08A7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4" name="Rectangle : coins arrondis 33">
                <a:extLst>
                  <a:ext uri="{FF2B5EF4-FFF2-40B4-BE49-F238E27FC236}">
                    <a16:creationId xmlns:a16="http://schemas.microsoft.com/office/drawing/2014/main" id="{899E47AA-D7DB-46E4-B45D-404B1E8E4C95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1C5611C1-5969-4699-9A82-898921F8580D}"/>
                </a:ext>
              </a:extLst>
            </p:cNvPr>
            <p:cNvSpPr txBox="1"/>
            <p:nvPr/>
          </p:nvSpPr>
          <p:spPr>
            <a:xfrm>
              <a:off x="12838390" y="67124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MAHATODY Thomas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Directeur de l’Ecole National d’Informatique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AAFDA031-F437-42B2-A19C-1A0480884E7B}"/>
              </a:ext>
            </a:extLst>
          </p:cNvPr>
          <p:cNvGrpSpPr/>
          <p:nvPr/>
        </p:nvGrpSpPr>
        <p:grpSpPr>
          <a:xfrm>
            <a:off x="6108848" y="-4725726"/>
            <a:ext cx="5740940" cy="1232400"/>
            <a:chOff x="12322080" y="1979874"/>
            <a:chExt cx="5740940" cy="1232400"/>
          </a:xfrm>
        </p:grpSpPr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3A986D1D-2313-4C6E-BDA0-1ABDC38A5417}"/>
                </a:ext>
              </a:extLst>
            </p:cNvPr>
            <p:cNvGrpSpPr/>
            <p:nvPr/>
          </p:nvGrpSpPr>
          <p:grpSpPr>
            <a:xfrm>
              <a:off x="12322080" y="1979874"/>
              <a:ext cx="5740940" cy="1232400"/>
              <a:chOff x="12322080" y="421345"/>
              <a:chExt cx="5740940" cy="1232400"/>
            </a:xfrm>
          </p:grpSpPr>
          <p:grpSp>
            <p:nvGrpSpPr>
              <p:cNvPr id="37" name="Groupe 36">
                <a:extLst>
                  <a:ext uri="{FF2B5EF4-FFF2-40B4-BE49-F238E27FC236}">
                    <a16:creationId xmlns:a16="http://schemas.microsoft.com/office/drawing/2014/main" id="{38058673-2A8D-4658-B2AB-6623ED1E2DC7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39" name="Rectangle : coins arrondis 38">
                  <a:extLst>
                    <a:ext uri="{FF2B5EF4-FFF2-40B4-BE49-F238E27FC236}">
                      <a16:creationId xmlns:a16="http://schemas.microsoft.com/office/drawing/2014/main" id="{11A149D8-989C-493E-A5D5-A223BEB28B88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40" name="Rectangle : coins arrondis 39">
                  <a:extLst>
                    <a:ext uri="{FF2B5EF4-FFF2-40B4-BE49-F238E27FC236}">
                      <a16:creationId xmlns:a16="http://schemas.microsoft.com/office/drawing/2014/main" id="{3B66B50F-4C4A-4EAE-BF6F-387A66EF6736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8" name="Rectangle : coins arrondis 37">
                <a:extLst>
                  <a:ext uri="{FF2B5EF4-FFF2-40B4-BE49-F238E27FC236}">
                    <a16:creationId xmlns:a16="http://schemas.microsoft.com/office/drawing/2014/main" id="{9B82BC5A-52B5-4BB3-8A15-E7F200D51A8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04822111-3315-41AF-8842-852598AC6830}"/>
                </a:ext>
              </a:extLst>
            </p:cNvPr>
            <p:cNvSpPr txBox="1"/>
            <p:nvPr/>
          </p:nvSpPr>
          <p:spPr>
            <a:xfrm>
              <a:off x="12770610" y="2300962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RABENJANAHARY A. Kevin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Encadreur professionnel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73345995-11C0-4527-AFA7-8FE46E6827DA}"/>
              </a:ext>
            </a:extLst>
          </p:cNvPr>
          <p:cNvGrpSpPr/>
          <p:nvPr/>
        </p:nvGrpSpPr>
        <p:grpSpPr>
          <a:xfrm>
            <a:off x="6108848" y="-3104114"/>
            <a:ext cx="5740940" cy="1232400"/>
            <a:chOff x="12322080" y="3601486"/>
            <a:chExt cx="5740940" cy="1232400"/>
          </a:xfrm>
        </p:grpSpPr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A8F81E26-786B-42E3-9B1A-8C871C41EBDA}"/>
                </a:ext>
              </a:extLst>
            </p:cNvPr>
            <p:cNvGrpSpPr/>
            <p:nvPr/>
          </p:nvGrpSpPr>
          <p:grpSpPr>
            <a:xfrm>
              <a:off x="12322080" y="3601486"/>
              <a:ext cx="5740940" cy="1232400"/>
              <a:chOff x="12322080" y="421345"/>
              <a:chExt cx="5740940" cy="1232400"/>
            </a:xfrm>
          </p:grpSpPr>
          <p:grpSp>
            <p:nvGrpSpPr>
              <p:cNvPr id="42" name="Groupe 41">
                <a:extLst>
                  <a:ext uri="{FF2B5EF4-FFF2-40B4-BE49-F238E27FC236}">
                    <a16:creationId xmlns:a16="http://schemas.microsoft.com/office/drawing/2014/main" id="{7200BAD3-64E3-47FB-B6C9-3246B55D32C8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44" name="Rectangle : coins arrondis 43">
                  <a:extLst>
                    <a:ext uri="{FF2B5EF4-FFF2-40B4-BE49-F238E27FC236}">
                      <a16:creationId xmlns:a16="http://schemas.microsoft.com/office/drawing/2014/main" id="{5DCEE930-C631-4A5D-8706-3ED1AB8383B5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45" name="Rectangle : coins arrondis 44">
                  <a:extLst>
                    <a:ext uri="{FF2B5EF4-FFF2-40B4-BE49-F238E27FC236}">
                      <a16:creationId xmlns:a16="http://schemas.microsoft.com/office/drawing/2014/main" id="{52F4637B-2EC5-4AF4-9701-4F7ADCB4195F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43" name="Rectangle : coins arrondis 42">
                <a:extLst>
                  <a:ext uri="{FF2B5EF4-FFF2-40B4-BE49-F238E27FC236}">
                    <a16:creationId xmlns:a16="http://schemas.microsoft.com/office/drawing/2014/main" id="{7C06B8B7-2E70-43F8-9C72-EC0A370C5D5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FA36ABDA-6CC4-497B-934A-BD53B21412A4}"/>
                </a:ext>
              </a:extLst>
            </p:cNvPr>
            <p:cNvSpPr txBox="1"/>
            <p:nvPr/>
          </p:nvSpPr>
          <p:spPr>
            <a:xfrm>
              <a:off x="12770610" y="391837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RAKOTOHASIMBAHOAKA cyprien Robert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Maître de Conférence, Encadreur pédagogique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08F86E1D-331A-4511-95A2-BDA343DF5EC4}"/>
              </a:ext>
            </a:extLst>
          </p:cNvPr>
          <p:cNvGrpSpPr/>
          <p:nvPr/>
        </p:nvGrpSpPr>
        <p:grpSpPr>
          <a:xfrm>
            <a:off x="6126774" y="-1456434"/>
            <a:ext cx="5740940" cy="1232400"/>
            <a:chOff x="12322080" y="421345"/>
            <a:chExt cx="5740940" cy="1232400"/>
          </a:xfrm>
        </p:grpSpPr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7BC19DCE-AE1D-4919-87C2-BE67FCEF90EB}"/>
                </a:ext>
              </a:extLst>
            </p:cNvPr>
            <p:cNvGrpSpPr/>
            <p:nvPr/>
          </p:nvGrpSpPr>
          <p:grpSpPr>
            <a:xfrm>
              <a:off x="12322080" y="421345"/>
              <a:ext cx="5740940" cy="1232400"/>
              <a:chOff x="5839730" y="908068"/>
              <a:chExt cx="5740940" cy="1232400"/>
            </a:xfrm>
          </p:grpSpPr>
          <p:sp>
            <p:nvSpPr>
              <p:cNvPr id="49" name="Rectangle : coins arrondis 48">
                <a:extLst>
                  <a:ext uri="{FF2B5EF4-FFF2-40B4-BE49-F238E27FC236}">
                    <a16:creationId xmlns:a16="http://schemas.microsoft.com/office/drawing/2014/main" id="{C1C1F097-E0BD-4DA6-8149-4EEADAC4AF1E}"/>
                  </a:ext>
                </a:extLst>
              </p:cNvPr>
              <p:cNvSpPr/>
              <p:nvPr/>
            </p:nvSpPr>
            <p:spPr>
              <a:xfrm>
                <a:off x="5839730" y="908068"/>
                <a:ext cx="5588540" cy="1080000"/>
              </a:xfrm>
              <a:prstGeom prst="roundRect">
                <a:avLst>
                  <a:gd name="adj" fmla="val 50000"/>
                </a:avLst>
              </a:prstGeom>
              <a:solidFill>
                <a:srgbClr val="003D5B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  <p:sp>
            <p:nvSpPr>
              <p:cNvPr id="50" name="Rectangle : coins arrondis 49">
                <a:extLst>
                  <a:ext uri="{FF2B5EF4-FFF2-40B4-BE49-F238E27FC236}">
                    <a16:creationId xmlns:a16="http://schemas.microsoft.com/office/drawing/2014/main" id="{84DA85A7-76F7-4F83-AC5C-43D3678A09D6}"/>
                  </a:ext>
                </a:extLst>
              </p:cNvPr>
              <p:cNvSpPr/>
              <p:nvPr/>
            </p:nvSpPr>
            <p:spPr>
              <a:xfrm>
                <a:off x="5992130" y="1060468"/>
                <a:ext cx="5588540" cy="1080000"/>
              </a:xfrm>
              <a:prstGeom prst="roundRect">
                <a:avLst>
                  <a:gd name="adj" fmla="val 50000"/>
                </a:avLst>
              </a:prstGeom>
              <a:solidFill>
                <a:srgbClr val="003D5B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48" name="Rectangle : coins arrondis 47">
              <a:extLst>
                <a:ext uri="{FF2B5EF4-FFF2-40B4-BE49-F238E27FC236}">
                  <a16:creationId xmlns:a16="http://schemas.microsoft.com/office/drawing/2014/main" id="{9CD662C8-FFB7-48C5-8564-43584AC7079B}"/>
                </a:ext>
              </a:extLst>
            </p:cNvPr>
            <p:cNvSpPr/>
            <p:nvPr/>
          </p:nvSpPr>
          <p:spPr>
            <a:xfrm>
              <a:off x="12654480" y="646831"/>
              <a:ext cx="5112000" cy="79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</p:grpSp>
      <p:sp>
        <p:nvSpPr>
          <p:cNvPr id="54" name="ZoneTexte 53">
            <a:extLst>
              <a:ext uri="{FF2B5EF4-FFF2-40B4-BE49-F238E27FC236}">
                <a16:creationId xmlns:a16="http://schemas.microsoft.com/office/drawing/2014/main" id="{A2F767F5-0DE6-48D8-9542-E03E306DC25C}"/>
              </a:ext>
            </a:extLst>
          </p:cNvPr>
          <p:cNvSpPr txBox="1"/>
          <p:nvPr/>
        </p:nvSpPr>
        <p:spPr>
          <a:xfrm>
            <a:off x="6622274" y="-1000170"/>
            <a:ext cx="524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scadia Code" panose="020B0609020000020004" pitchFamily="49" charset="0"/>
                <a:cs typeface="Cascadia Code" panose="020B0609020000020004" pitchFamily="49" charset="0"/>
              </a:rPr>
              <a:t>Les membre de la commission du jury</a:t>
            </a:r>
            <a:endParaRPr lang="fr-MG" sz="1600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BDCA73D4-2036-4E13-AC01-5E97A2E5BA50}"/>
              </a:ext>
            </a:extLst>
          </p:cNvPr>
          <p:cNvSpPr/>
          <p:nvPr/>
        </p:nvSpPr>
        <p:spPr>
          <a:xfrm rot="8100000" flipH="1">
            <a:off x="6079555" y="-800011"/>
            <a:ext cx="9288000" cy="3960000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DF2E3A81-6159-4720-AC20-D2C9140128C4}"/>
              </a:ext>
            </a:extLst>
          </p:cNvPr>
          <p:cNvSpPr/>
          <p:nvPr/>
        </p:nvSpPr>
        <p:spPr>
          <a:xfrm>
            <a:off x="7513319" y="3575267"/>
            <a:ext cx="4029889" cy="79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442162F-DC9A-47B5-A48E-401E3BB975F7}"/>
              </a:ext>
            </a:extLst>
          </p:cNvPr>
          <p:cNvSpPr/>
          <p:nvPr/>
        </p:nvSpPr>
        <p:spPr>
          <a:xfrm>
            <a:off x="8103014" y="334905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F073437-AB73-424B-8B1A-1C53AF849347}"/>
              </a:ext>
            </a:extLst>
          </p:cNvPr>
          <p:cNvSpPr/>
          <p:nvPr/>
        </p:nvSpPr>
        <p:spPr>
          <a:xfrm>
            <a:off x="7634060" y="1174496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009137E-1B2A-40F0-8335-E4D0DCD5A5AD}"/>
              </a:ext>
            </a:extLst>
          </p:cNvPr>
          <p:cNvSpPr txBox="1"/>
          <p:nvPr/>
        </p:nvSpPr>
        <p:spPr>
          <a:xfrm>
            <a:off x="7499911" y="3617324"/>
            <a:ext cx="4029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Introduction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7686CB0C-0E8A-4AA7-B734-081A0F87708B}"/>
              </a:ext>
            </a:extLst>
          </p:cNvPr>
          <p:cNvSpPr/>
          <p:nvPr/>
        </p:nvSpPr>
        <p:spPr>
          <a:xfrm>
            <a:off x="11799938" y="5070548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F6CFB084-3F6A-4783-975C-A8AD69F24221}"/>
              </a:ext>
            </a:extLst>
          </p:cNvPr>
          <p:cNvSpPr/>
          <p:nvPr/>
        </p:nvSpPr>
        <p:spPr>
          <a:xfrm>
            <a:off x="10513823" y="5921999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1BB72B7-BC21-42E5-B892-F00A706CA903}"/>
              </a:ext>
            </a:extLst>
          </p:cNvPr>
          <p:cNvSpPr txBox="1"/>
          <p:nvPr/>
        </p:nvSpPr>
        <p:spPr>
          <a:xfrm>
            <a:off x="477375" y="1975819"/>
            <a:ext cx="61991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/>
              <a:t>Dans un contexte de transformation numérique, la gestion du parc informatique constitue un enjeu majeur pour les entreprises. Face aux limites observées à </a:t>
            </a:r>
            <a:r>
              <a:rPr lang="fr-FR" sz="2400" dirty="0" err="1"/>
              <a:t>Concentrix</a:t>
            </a:r>
            <a:r>
              <a:rPr lang="fr-FR" sz="2400" dirty="0"/>
              <a:t>, notamment en matière de centralisation et de traçabilité, une application de gestion des matériels informatiques a été proposée.</a:t>
            </a:r>
            <a:endParaRPr lang="fr-MG" sz="2400" dirty="0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A0E99B51-104B-42BC-B996-D7948FFE5428}"/>
              </a:ext>
            </a:extLst>
          </p:cNvPr>
          <p:cNvSpPr/>
          <p:nvPr/>
        </p:nvSpPr>
        <p:spPr>
          <a:xfrm>
            <a:off x="862180" y="5570923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4B6435DF-1A52-4CDD-A24C-A8C8A05777BA}"/>
              </a:ext>
            </a:extLst>
          </p:cNvPr>
          <p:cNvSpPr/>
          <p:nvPr/>
        </p:nvSpPr>
        <p:spPr>
          <a:xfrm>
            <a:off x="7814060" y="-121394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8A5EAAF5-BDE7-4B34-9187-43C93B1022D4}"/>
              </a:ext>
            </a:extLst>
          </p:cNvPr>
          <p:cNvSpPr/>
          <p:nvPr/>
        </p:nvSpPr>
        <p:spPr>
          <a:xfrm>
            <a:off x="10723555" y="6201996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2364171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llipse 15">
            <a:extLst>
              <a:ext uri="{FF2B5EF4-FFF2-40B4-BE49-F238E27FC236}">
                <a16:creationId xmlns:a16="http://schemas.microsoft.com/office/drawing/2014/main" id="{4442162F-DC9A-47B5-A48E-401E3BB975F7}"/>
              </a:ext>
            </a:extLst>
          </p:cNvPr>
          <p:cNvSpPr/>
          <p:nvPr/>
        </p:nvSpPr>
        <p:spPr>
          <a:xfrm>
            <a:off x="9152409" y="-312988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95FC7776-5663-4265-B9F4-9F488A03F89B}"/>
              </a:ext>
            </a:extLst>
          </p:cNvPr>
          <p:cNvSpPr/>
          <p:nvPr/>
        </p:nvSpPr>
        <p:spPr>
          <a:xfrm>
            <a:off x="2439739" y="9917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6976E4FD-A212-41E9-AE05-6D0A513A19F9}"/>
              </a:ext>
            </a:extLst>
          </p:cNvPr>
          <p:cNvSpPr/>
          <p:nvPr/>
        </p:nvSpPr>
        <p:spPr>
          <a:xfrm>
            <a:off x="2739886" y="-877304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CFE5A9E-EDAB-4D61-839A-7ECA46D9AFB0}"/>
              </a:ext>
            </a:extLst>
          </p:cNvPr>
          <p:cNvSpPr/>
          <p:nvPr/>
        </p:nvSpPr>
        <p:spPr>
          <a:xfrm>
            <a:off x="2785036" y="318133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F073437-AB73-424B-8B1A-1C53AF849347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50D76181-9456-4053-A6EC-877366EDEA3F}"/>
              </a:ext>
            </a:extLst>
          </p:cNvPr>
          <p:cNvSpPr txBox="1"/>
          <p:nvPr/>
        </p:nvSpPr>
        <p:spPr>
          <a:xfrm>
            <a:off x="2679591" y="318133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Plan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C18DD49-D20A-414D-B64D-6C2EDE436A2E}"/>
              </a:ext>
            </a:extLst>
          </p:cNvPr>
          <p:cNvGrpSpPr/>
          <p:nvPr/>
        </p:nvGrpSpPr>
        <p:grpSpPr>
          <a:xfrm>
            <a:off x="465731" y="7038228"/>
            <a:ext cx="2628900" cy="3131939"/>
            <a:chOff x="1930400" y="2984500"/>
            <a:chExt cx="2628900" cy="3131939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ADB15E88-45A8-4E8F-9622-2B852FB0860C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5" name="Rectangle : coins arrondis 64">
              <a:extLst>
                <a:ext uri="{FF2B5EF4-FFF2-40B4-BE49-F238E27FC236}">
                  <a16:creationId xmlns:a16="http://schemas.microsoft.com/office/drawing/2014/main" id="{67CEA1F6-DB39-4226-BD7D-7D184B2A9E7E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5CC52E2B-F445-4241-8B65-365CC248112C}"/>
                </a:ext>
              </a:extLst>
            </p:cNvPr>
            <p:cNvSpPr txBox="1"/>
            <p:nvPr/>
          </p:nvSpPr>
          <p:spPr>
            <a:xfrm>
              <a:off x="1930400" y="3336236"/>
              <a:ext cx="2628900" cy="24622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01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Présentation des structures d’accueil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l’ENI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</a:t>
              </a:r>
              <a:r>
                <a:rPr lang="fr-FR" sz="1600" dirty="0" err="1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Concentrix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E901234-B3E0-481D-B7EA-AA03944FEBFA}"/>
              </a:ext>
            </a:extLst>
          </p:cNvPr>
          <p:cNvGrpSpPr/>
          <p:nvPr/>
        </p:nvGrpSpPr>
        <p:grpSpPr>
          <a:xfrm>
            <a:off x="3304244" y="7009365"/>
            <a:ext cx="2628900" cy="3131939"/>
            <a:chOff x="2801472" y="7038228"/>
            <a:chExt cx="2628900" cy="3131939"/>
          </a:xfrm>
        </p:grpSpPr>
        <p:sp>
          <p:nvSpPr>
            <p:cNvPr id="67" name="Rectangle : coins arrondis 66">
              <a:extLst>
                <a:ext uri="{FF2B5EF4-FFF2-40B4-BE49-F238E27FC236}">
                  <a16:creationId xmlns:a16="http://schemas.microsoft.com/office/drawing/2014/main" id="{323EF328-205E-4E36-86CC-BEE2DB1378FB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8" name="Rectangle : coins arrondis 67">
              <a:extLst>
                <a:ext uri="{FF2B5EF4-FFF2-40B4-BE49-F238E27FC236}">
                  <a16:creationId xmlns:a16="http://schemas.microsoft.com/office/drawing/2014/main" id="{4B1998B0-5FA0-44B5-93F4-B4DEEAC6CB49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AFAAF222-312D-4707-8398-71602EA02F38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problématique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DB045655-CC33-43E1-8319-E6B54D37C7E1}"/>
              </a:ext>
            </a:extLst>
          </p:cNvPr>
          <p:cNvGrpSpPr/>
          <p:nvPr/>
        </p:nvGrpSpPr>
        <p:grpSpPr>
          <a:xfrm>
            <a:off x="6250770" y="7038228"/>
            <a:ext cx="2628900" cy="3131939"/>
            <a:chOff x="1930400" y="2984500"/>
            <a:chExt cx="2628900" cy="3131939"/>
          </a:xfrm>
        </p:grpSpPr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E08DD89E-A84A-49D4-8369-B48B3F47A1CE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4B624098-2D3D-4DEB-9937-7C70FBC5A8DF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1956F612-FE40-44D0-A12D-7C170341E81B}"/>
                </a:ext>
              </a:extLst>
            </p:cNvPr>
            <p:cNvSpPr txBox="1"/>
            <p:nvPr/>
          </p:nvSpPr>
          <p:spPr>
            <a:xfrm>
              <a:off x="1930400" y="3332414"/>
              <a:ext cx="2628900" cy="243143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endParaRPr lang="fr-FR" dirty="0">
                <a:solidFill>
                  <a:srgbClr val="00738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Proposition de solution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A6BF3C5E-D00F-4574-A3BC-7215886E2F38}"/>
              </a:ext>
            </a:extLst>
          </p:cNvPr>
          <p:cNvGrpSpPr/>
          <p:nvPr/>
        </p:nvGrpSpPr>
        <p:grpSpPr>
          <a:xfrm>
            <a:off x="9095696" y="7009365"/>
            <a:ext cx="2628900" cy="3131939"/>
            <a:chOff x="2801472" y="7038228"/>
            <a:chExt cx="2628900" cy="3131939"/>
          </a:xfrm>
        </p:grpSpPr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C8F01AAB-A968-4375-90A8-7E26447625AC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6" name="Rectangle : coins arrondis 75">
              <a:extLst>
                <a:ext uri="{FF2B5EF4-FFF2-40B4-BE49-F238E27FC236}">
                  <a16:creationId xmlns:a16="http://schemas.microsoft.com/office/drawing/2014/main" id="{C641E5C2-3F78-4843-BF02-051C5B9CAC8E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185AD061-E118-43FA-898A-0BD4ACAC2270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</p:txBody>
        </p:sp>
      </p:grpSp>
      <p:sp>
        <p:nvSpPr>
          <p:cNvPr id="78" name="Ellipse 77">
            <a:extLst>
              <a:ext uri="{FF2B5EF4-FFF2-40B4-BE49-F238E27FC236}">
                <a16:creationId xmlns:a16="http://schemas.microsoft.com/office/drawing/2014/main" id="{70040590-391D-47A1-8747-D5E4AF40B691}"/>
              </a:ext>
            </a:extLst>
          </p:cNvPr>
          <p:cNvSpPr/>
          <p:nvPr/>
        </p:nvSpPr>
        <p:spPr>
          <a:xfrm>
            <a:off x="3190186" y="844027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9C322C5E-10F7-44B7-8902-C5471A96B5DC}"/>
              </a:ext>
            </a:extLst>
          </p:cNvPr>
          <p:cNvSpPr/>
          <p:nvPr/>
        </p:nvSpPr>
        <p:spPr>
          <a:xfrm>
            <a:off x="8792409" y="592000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4394592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3C18DD49-D20A-414D-B64D-6C2EDE436A2E}"/>
              </a:ext>
            </a:extLst>
          </p:cNvPr>
          <p:cNvGrpSpPr/>
          <p:nvPr/>
        </p:nvGrpSpPr>
        <p:grpSpPr>
          <a:xfrm>
            <a:off x="465731" y="2386712"/>
            <a:ext cx="2628900" cy="3131939"/>
            <a:chOff x="1930400" y="2984500"/>
            <a:chExt cx="2628900" cy="3131939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ADB15E88-45A8-4E8F-9622-2B852FB0860C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5" name="Rectangle : coins arrondis 64">
              <a:extLst>
                <a:ext uri="{FF2B5EF4-FFF2-40B4-BE49-F238E27FC236}">
                  <a16:creationId xmlns:a16="http://schemas.microsoft.com/office/drawing/2014/main" id="{67CEA1F6-DB39-4226-BD7D-7D184B2A9E7E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5CC52E2B-F445-4241-8B65-365CC248112C}"/>
                </a:ext>
              </a:extLst>
            </p:cNvPr>
            <p:cNvSpPr txBox="1"/>
            <p:nvPr/>
          </p:nvSpPr>
          <p:spPr>
            <a:xfrm>
              <a:off x="1930400" y="3336236"/>
              <a:ext cx="2628900" cy="24622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01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Présentation des structures d’accueil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l’ENI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</a:t>
              </a:r>
              <a:r>
                <a:rPr lang="fr-FR" sz="1600" dirty="0" err="1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Concentrix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E901234-B3E0-481D-B7EA-AA03944FEBFA}"/>
              </a:ext>
            </a:extLst>
          </p:cNvPr>
          <p:cNvGrpSpPr/>
          <p:nvPr/>
        </p:nvGrpSpPr>
        <p:grpSpPr>
          <a:xfrm>
            <a:off x="3304244" y="7009365"/>
            <a:ext cx="2628900" cy="3131939"/>
            <a:chOff x="2801472" y="7038228"/>
            <a:chExt cx="2628900" cy="3131939"/>
          </a:xfrm>
        </p:grpSpPr>
        <p:sp>
          <p:nvSpPr>
            <p:cNvPr id="67" name="Rectangle : coins arrondis 66">
              <a:extLst>
                <a:ext uri="{FF2B5EF4-FFF2-40B4-BE49-F238E27FC236}">
                  <a16:creationId xmlns:a16="http://schemas.microsoft.com/office/drawing/2014/main" id="{323EF328-205E-4E36-86CC-BEE2DB1378FB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8" name="Rectangle : coins arrondis 67">
              <a:extLst>
                <a:ext uri="{FF2B5EF4-FFF2-40B4-BE49-F238E27FC236}">
                  <a16:creationId xmlns:a16="http://schemas.microsoft.com/office/drawing/2014/main" id="{4B1998B0-5FA0-44B5-93F4-B4DEEAC6CB49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AFAAF222-312D-4707-8398-71602EA02F38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problématique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DB045655-CC33-43E1-8319-E6B54D37C7E1}"/>
              </a:ext>
            </a:extLst>
          </p:cNvPr>
          <p:cNvGrpSpPr/>
          <p:nvPr/>
        </p:nvGrpSpPr>
        <p:grpSpPr>
          <a:xfrm>
            <a:off x="6250770" y="7038228"/>
            <a:ext cx="2628900" cy="3131939"/>
            <a:chOff x="1930400" y="2984500"/>
            <a:chExt cx="2628900" cy="3131939"/>
          </a:xfrm>
        </p:grpSpPr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E08DD89E-A84A-49D4-8369-B48B3F47A1CE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4B624098-2D3D-4DEB-9937-7C70FBC5A8DF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1956F612-FE40-44D0-A12D-7C170341E81B}"/>
                </a:ext>
              </a:extLst>
            </p:cNvPr>
            <p:cNvSpPr txBox="1"/>
            <p:nvPr/>
          </p:nvSpPr>
          <p:spPr>
            <a:xfrm>
              <a:off x="1930400" y="3332414"/>
              <a:ext cx="2628900" cy="243143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endParaRPr lang="fr-FR" dirty="0">
                <a:solidFill>
                  <a:srgbClr val="00738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Proposition de solutions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A6BF3C5E-D00F-4574-A3BC-7215886E2F38}"/>
              </a:ext>
            </a:extLst>
          </p:cNvPr>
          <p:cNvGrpSpPr/>
          <p:nvPr/>
        </p:nvGrpSpPr>
        <p:grpSpPr>
          <a:xfrm>
            <a:off x="9095696" y="7009365"/>
            <a:ext cx="2628900" cy="3131939"/>
            <a:chOff x="2801472" y="7038228"/>
            <a:chExt cx="2628900" cy="3131939"/>
          </a:xfrm>
        </p:grpSpPr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C8F01AAB-A968-4375-90A8-7E26447625AC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6" name="Rectangle : coins arrondis 75">
              <a:extLst>
                <a:ext uri="{FF2B5EF4-FFF2-40B4-BE49-F238E27FC236}">
                  <a16:creationId xmlns:a16="http://schemas.microsoft.com/office/drawing/2014/main" id="{C641E5C2-3F78-4843-BF02-051C5B9CAC8E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185AD061-E118-43FA-898A-0BD4ACAC2270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</p:txBody>
        </p:sp>
      </p:grpSp>
      <p:sp>
        <p:nvSpPr>
          <p:cNvPr id="34" name="Ellipse 33">
            <a:extLst>
              <a:ext uri="{FF2B5EF4-FFF2-40B4-BE49-F238E27FC236}">
                <a16:creationId xmlns:a16="http://schemas.microsoft.com/office/drawing/2014/main" id="{5C7613D9-277C-41D7-9F3E-E62FCBBEB9CD}"/>
              </a:ext>
            </a:extLst>
          </p:cNvPr>
          <p:cNvSpPr/>
          <p:nvPr/>
        </p:nvSpPr>
        <p:spPr>
          <a:xfrm>
            <a:off x="9152409" y="-312988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C8EFE5BC-B7DD-4EF8-A263-003836DCCB8E}"/>
              </a:ext>
            </a:extLst>
          </p:cNvPr>
          <p:cNvSpPr/>
          <p:nvPr/>
        </p:nvSpPr>
        <p:spPr>
          <a:xfrm>
            <a:off x="2439739" y="9917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AF990C66-CD08-4FC8-97E3-2FAD399E14FC}"/>
              </a:ext>
            </a:extLst>
          </p:cNvPr>
          <p:cNvSpPr/>
          <p:nvPr/>
        </p:nvSpPr>
        <p:spPr>
          <a:xfrm>
            <a:off x="2739886" y="-877304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59AD6E0A-227A-4EE7-84E6-780E8F5ED3FC}"/>
              </a:ext>
            </a:extLst>
          </p:cNvPr>
          <p:cNvSpPr/>
          <p:nvPr/>
        </p:nvSpPr>
        <p:spPr>
          <a:xfrm>
            <a:off x="2785036" y="318133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A716D78D-5C1E-4883-A948-D5E1AA76CA92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A94407F0-5A00-4973-98B6-D6FB1F03E03B}"/>
              </a:ext>
            </a:extLst>
          </p:cNvPr>
          <p:cNvSpPr txBox="1"/>
          <p:nvPr/>
        </p:nvSpPr>
        <p:spPr>
          <a:xfrm>
            <a:off x="2679591" y="318133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Plan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CE09F9B-CCA2-4BD3-9FA7-E2C3041C6805}"/>
              </a:ext>
            </a:extLst>
          </p:cNvPr>
          <p:cNvSpPr/>
          <p:nvPr/>
        </p:nvSpPr>
        <p:spPr>
          <a:xfrm>
            <a:off x="3190186" y="844027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2CB6A2AC-A600-4038-81EF-CAF9936C43A1}"/>
              </a:ext>
            </a:extLst>
          </p:cNvPr>
          <p:cNvSpPr/>
          <p:nvPr/>
        </p:nvSpPr>
        <p:spPr>
          <a:xfrm>
            <a:off x="8792409" y="592000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9441392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3C18DD49-D20A-414D-B64D-6C2EDE436A2E}"/>
              </a:ext>
            </a:extLst>
          </p:cNvPr>
          <p:cNvGrpSpPr/>
          <p:nvPr/>
        </p:nvGrpSpPr>
        <p:grpSpPr>
          <a:xfrm>
            <a:off x="465731" y="2386712"/>
            <a:ext cx="2628900" cy="3131939"/>
            <a:chOff x="1930400" y="2984500"/>
            <a:chExt cx="2628900" cy="3131939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ADB15E88-45A8-4E8F-9622-2B852FB0860C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5" name="Rectangle : coins arrondis 64">
              <a:extLst>
                <a:ext uri="{FF2B5EF4-FFF2-40B4-BE49-F238E27FC236}">
                  <a16:creationId xmlns:a16="http://schemas.microsoft.com/office/drawing/2014/main" id="{67CEA1F6-DB39-4226-BD7D-7D184B2A9E7E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5CC52E2B-F445-4241-8B65-365CC248112C}"/>
                </a:ext>
              </a:extLst>
            </p:cNvPr>
            <p:cNvSpPr txBox="1"/>
            <p:nvPr/>
          </p:nvSpPr>
          <p:spPr>
            <a:xfrm>
              <a:off x="1930400" y="3336236"/>
              <a:ext cx="2628900" cy="24622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01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Présentation des structures d’accueil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l’ENI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</a:t>
              </a:r>
              <a:r>
                <a:rPr lang="fr-FR" sz="1600" dirty="0" err="1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Concentrix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E901234-B3E0-481D-B7EA-AA03944FEBFA}"/>
              </a:ext>
            </a:extLst>
          </p:cNvPr>
          <p:cNvGrpSpPr/>
          <p:nvPr/>
        </p:nvGrpSpPr>
        <p:grpSpPr>
          <a:xfrm>
            <a:off x="3304244" y="2384353"/>
            <a:ext cx="2628900" cy="3131939"/>
            <a:chOff x="2801472" y="7038228"/>
            <a:chExt cx="2628900" cy="3131939"/>
          </a:xfrm>
        </p:grpSpPr>
        <p:sp>
          <p:nvSpPr>
            <p:cNvPr id="67" name="Rectangle : coins arrondis 66">
              <a:extLst>
                <a:ext uri="{FF2B5EF4-FFF2-40B4-BE49-F238E27FC236}">
                  <a16:creationId xmlns:a16="http://schemas.microsoft.com/office/drawing/2014/main" id="{323EF328-205E-4E36-86CC-BEE2DB1378FB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8" name="Rectangle : coins arrondis 67">
              <a:extLst>
                <a:ext uri="{FF2B5EF4-FFF2-40B4-BE49-F238E27FC236}">
                  <a16:creationId xmlns:a16="http://schemas.microsoft.com/office/drawing/2014/main" id="{4B1998B0-5FA0-44B5-93F4-B4DEEAC6CB49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AFAAF222-312D-4707-8398-71602EA02F38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problématique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DB045655-CC33-43E1-8319-E6B54D37C7E1}"/>
              </a:ext>
            </a:extLst>
          </p:cNvPr>
          <p:cNvGrpSpPr/>
          <p:nvPr/>
        </p:nvGrpSpPr>
        <p:grpSpPr>
          <a:xfrm>
            <a:off x="6250770" y="7038228"/>
            <a:ext cx="2628900" cy="3131939"/>
            <a:chOff x="1930400" y="2984500"/>
            <a:chExt cx="2628900" cy="3131939"/>
          </a:xfrm>
        </p:grpSpPr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E08DD89E-A84A-49D4-8369-B48B3F47A1CE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4B624098-2D3D-4DEB-9937-7C70FBC5A8DF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1956F612-FE40-44D0-A12D-7C170341E81B}"/>
                </a:ext>
              </a:extLst>
            </p:cNvPr>
            <p:cNvSpPr txBox="1"/>
            <p:nvPr/>
          </p:nvSpPr>
          <p:spPr>
            <a:xfrm>
              <a:off x="1930400" y="3340034"/>
              <a:ext cx="2628900" cy="243143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endParaRPr lang="fr-FR" dirty="0">
                <a:solidFill>
                  <a:srgbClr val="00738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Proposition de solutions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A6BF3C5E-D00F-4574-A3BC-7215886E2F38}"/>
              </a:ext>
            </a:extLst>
          </p:cNvPr>
          <p:cNvGrpSpPr/>
          <p:nvPr/>
        </p:nvGrpSpPr>
        <p:grpSpPr>
          <a:xfrm>
            <a:off x="9095696" y="7009365"/>
            <a:ext cx="2628900" cy="3131939"/>
            <a:chOff x="2801472" y="7038228"/>
            <a:chExt cx="2628900" cy="3131939"/>
          </a:xfrm>
        </p:grpSpPr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C8F01AAB-A968-4375-90A8-7E26447625AC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6" name="Rectangle : coins arrondis 75">
              <a:extLst>
                <a:ext uri="{FF2B5EF4-FFF2-40B4-BE49-F238E27FC236}">
                  <a16:creationId xmlns:a16="http://schemas.microsoft.com/office/drawing/2014/main" id="{C641E5C2-3F78-4843-BF02-051C5B9CAC8E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185AD061-E118-43FA-898A-0BD4ACAC2270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</p:txBody>
        </p:sp>
      </p:grpSp>
      <p:sp>
        <p:nvSpPr>
          <p:cNvPr id="24" name="Ellipse 23">
            <a:extLst>
              <a:ext uri="{FF2B5EF4-FFF2-40B4-BE49-F238E27FC236}">
                <a16:creationId xmlns:a16="http://schemas.microsoft.com/office/drawing/2014/main" id="{D892B942-059B-4C26-9C13-D789E84790D8}"/>
              </a:ext>
            </a:extLst>
          </p:cNvPr>
          <p:cNvSpPr/>
          <p:nvPr/>
        </p:nvSpPr>
        <p:spPr>
          <a:xfrm>
            <a:off x="9152409" y="-312988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842FB58-29D0-4EC9-A8EA-21F711A6ECE0}"/>
              </a:ext>
            </a:extLst>
          </p:cNvPr>
          <p:cNvSpPr/>
          <p:nvPr/>
        </p:nvSpPr>
        <p:spPr>
          <a:xfrm>
            <a:off x="2439739" y="9917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7DE1ECBA-8E77-4772-B776-C0AE9DBC7D5C}"/>
              </a:ext>
            </a:extLst>
          </p:cNvPr>
          <p:cNvSpPr/>
          <p:nvPr/>
        </p:nvSpPr>
        <p:spPr>
          <a:xfrm>
            <a:off x="2739886" y="-877304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107AAC41-FF48-4B07-8FE3-1B0883214681}"/>
              </a:ext>
            </a:extLst>
          </p:cNvPr>
          <p:cNvSpPr/>
          <p:nvPr/>
        </p:nvSpPr>
        <p:spPr>
          <a:xfrm>
            <a:off x="2785036" y="318133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1432592F-2A62-4962-908B-6BD437C85164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D0DEB4F-8658-4E95-A594-91D0B0ECB114}"/>
              </a:ext>
            </a:extLst>
          </p:cNvPr>
          <p:cNvSpPr txBox="1"/>
          <p:nvPr/>
        </p:nvSpPr>
        <p:spPr>
          <a:xfrm>
            <a:off x="2679591" y="318133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Plan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16484204-205A-470B-855A-3F949055B827}"/>
              </a:ext>
            </a:extLst>
          </p:cNvPr>
          <p:cNvSpPr/>
          <p:nvPr/>
        </p:nvSpPr>
        <p:spPr>
          <a:xfrm>
            <a:off x="3190186" y="844027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3EA58F68-1A47-4B5C-9180-04673ABEB7C8}"/>
              </a:ext>
            </a:extLst>
          </p:cNvPr>
          <p:cNvSpPr/>
          <p:nvPr/>
        </p:nvSpPr>
        <p:spPr>
          <a:xfrm>
            <a:off x="8792409" y="592000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8850606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3C18DD49-D20A-414D-B64D-6C2EDE436A2E}"/>
              </a:ext>
            </a:extLst>
          </p:cNvPr>
          <p:cNvGrpSpPr/>
          <p:nvPr/>
        </p:nvGrpSpPr>
        <p:grpSpPr>
          <a:xfrm>
            <a:off x="465731" y="2386712"/>
            <a:ext cx="2628900" cy="3131939"/>
            <a:chOff x="1930400" y="2984500"/>
            <a:chExt cx="2628900" cy="3131939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ADB15E88-45A8-4E8F-9622-2B852FB0860C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5" name="Rectangle : coins arrondis 64">
              <a:extLst>
                <a:ext uri="{FF2B5EF4-FFF2-40B4-BE49-F238E27FC236}">
                  <a16:creationId xmlns:a16="http://schemas.microsoft.com/office/drawing/2014/main" id="{67CEA1F6-DB39-4226-BD7D-7D184B2A9E7E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5CC52E2B-F445-4241-8B65-365CC248112C}"/>
                </a:ext>
              </a:extLst>
            </p:cNvPr>
            <p:cNvSpPr txBox="1"/>
            <p:nvPr/>
          </p:nvSpPr>
          <p:spPr>
            <a:xfrm>
              <a:off x="1930400" y="3336236"/>
              <a:ext cx="2628900" cy="24622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01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Présentation des structures d’accueil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l’ENI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</a:t>
              </a:r>
              <a:r>
                <a:rPr lang="fr-FR" sz="1600" dirty="0" err="1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Concentrix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E901234-B3E0-481D-B7EA-AA03944FEBFA}"/>
              </a:ext>
            </a:extLst>
          </p:cNvPr>
          <p:cNvGrpSpPr/>
          <p:nvPr/>
        </p:nvGrpSpPr>
        <p:grpSpPr>
          <a:xfrm>
            <a:off x="3304244" y="2384353"/>
            <a:ext cx="2628900" cy="3131939"/>
            <a:chOff x="2801472" y="7038228"/>
            <a:chExt cx="2628900" cy="3131939"/>
          </a:xfrm>
        </p:grpSpPr>
        <p:sp>
          <p:nvSpPr>
            <p:cNvPr id="67" name="Rectangle : coins arrondis 66">
              <a:extLst>
                <a:ext uri="{FF2B5EF4-FFF2-40B4-BE49-F238E27FC236}">
                  <a16:creationId xmlns:a16="http://schemas.microsoft.com/office/drawing/2014/main" id="{323EF328-205E-4E36-86CC-BEE2DB1378FB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8" name="Rectangle : coins arrondis 67">
              <a:extLst>
                <a:ext uri="{FF2B5EF4-FFF2-40B4-BE49-F238E27FC236}">
                  <a16:creationId xmlns:a16="http://schemas.microsoft.com/office/drawing/2014/main" id="{4B1998B0-5FA0-44B5-93F4-B4DEEAC6CB49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AFAAF222-312D-4707-8398-71602EA02F38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problématique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DB045655-CC33-43E1-8319-E6B54D37C7E1}"/>
              </a:ext>
            </a:extLst>
          </p:cNvPr>
          <p:cNvGrpSpPr/>
          <p:nvPr/>
        </p:nvGrpSpPr>
        <p:grpSpPr>
          <a:xfrm>
            <a:off x="6250770" y="2386710"/>
            <a:ext cx="2628900" cy="3131939"/>
            <a:chOff x="1930400" y="2984500"/>
            <a:chExt cx="2628900" cy="3131939"/>
          </a:xfrm>
        </p:grpSpPr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E08DD89E-A84A-49D4-8369-B48B3F47A1CE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4B624098-2D3D-4DEB-9937-7C70FBC5A8DF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1956F612-FE40-44D0-A12D-7C170341E81B}"/>
                </a:ext>
              </a:extLst>
            </p:cNvPr>
            <p:cNvSpPr txBox="1"/>
            <p:nvPr/>
          </p:nvSpPr>
          <p:spPr>
            <a:xfrm>
              <a:off x="1930400" y="3327334"/>
              <a:ext cx="2628900" cy="243143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endParaRPr lang="fr-FR" dirty="0">
                <a:solidFill>
                  <a:srgbClr val="00738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Proposition de solutions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A6BF3C5E-D00F-4574-A3BC-7215886E2F38}"/>
              </a:ext>
            </a:extLst>
          </p:cNvPr>
          <p:cNvGrpSpPr/>
          <p:nvPr/>
        </p:nvGrpSpPr>
        <p:grpSpPr>
          <a:xfrm>
            <a:off x="9095696" y="7009365"/>
            <a:ext cx="2628900" cy="3131939"/>
            <a:chOff x="2801472" y="7038228"/>
            <a:chExt cx="2628900" cy="3131939"/>
          </a:xfrm>
        </p:grpSpPr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C8F01AAB-A968-4375-90A8-7E26447625AC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6" name="Rectangle : coins arrondis 75">
              <a:extLst>
                <a:ext uri="{FF2B5EF4-FFF2-40B4-BE49-F238E27FC236}">
                  <a16:creationId xmlns:a16="http://schemas.microsoft.com/office/drawing/2014/main" id="{C641E5C2-3F78-4843-BF02-051C5B9CAC8E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185AD061-E118-43FA-898A-0BD4ACAC2270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</p:txBody>
        </p:sp>
      </p:grpSp>
      <p:sp>
        <p:nvSpPr>
          <p:cNvPr id="24" name="Ellipse 23">
            <a:extLst>
              <a:ext uri="{FF2B5EF4-FFF2-40B4-BE49-F238E27FC236}">
                <a16:creationId xmlns:a16="http://schemas.microsoft.com/office/drawing/2014/main" id="{84E22DC6-2B91-4543-AA7B-636CA55CCF20}"/>
              </a:ext>
            </a:extLst>
          </p:cNvPr>
          <p:cNvSpPr/>
          <p:nvPr/>
        </p:nvSpPr>
        <p:spPr>
          <a:xfrm>
            <a:off x="9152409" y="-312988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542D7E7D-FCAE-4C6E-9041-A1C96D77DA3F}"/>
              </a:ext>
            </a:extLst>
          </p:cNvPr>
          <p:cNvSpPr/>
          <p:nvPr/>
        </p:nvSpPr>
        <p:spPr>
          <a:xfrm>
            <a:off x="2439739" y="9917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3957F50-E922-4A17-A99F-6F35B4D5FB67}"/>
              </a:ext>
            </a:extLst>
          </p:cNvPr>
          <p:cNvSpPr/>
          <p:nvPr/>
        </p:nvSpPr>
        <p:spPr>
          <a:xfrm>
            <a:off x="2739886" y="-877304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90624A44-93E6-4F2D-99BB-1C94A97681CD}"/>
              </a:ext>
            </a:extLst>
          </p:cNvPr>
          <p:cNvSpPr/>
          <p:nvPr/>
        </p:nvSpPr>
        <p:spPr>
          <a:xfrm>
            <a:off x="2785036" y="318133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F75B8FEE-7819-43AC-A453-1C760A8ABF31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0AC92D6-F11A-4042-8F41-DEC017918C95}"/>
              </a:ext>
            </a:extLst>
          </p:cNvPr>
          <p:cNvSpPr txBox="1"/>
          <p:nvPr/>
        </p:nvSpPr>
        <p:spPr>
          <a:xfrm>
            <a:off x="2679591" y="318133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Plan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C994749-E61B-4359-BC9F-2E916E30382D}"/>
              </a:ext>
            </a:extLst>
          </p:cNvPr>
          <p:cNvSpPr/>
          <p:nvPr/>
        </p:nvSpPr>
        <p:spPr>
          <a:xfrm>
            <a:off x="3190186" y="844027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41C09B06-0F09-49CC-AFE5-FC8B8AD5C3E6}"/>
              </a:ext>
            </a:extLst>
          </p:cNvPr>
          <p:cNvSpPr/>
          <p:nvPr/>
        </p:nvSpPr>
        <p:spPr>
          <a:xfrm>
            <a:off x="8792409" y="592000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8149806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3C18DD49-D20A-414D-B64D-6C2EDE436A2E}"/>
              </a:ext>
            </a:extLst>
          </p:cNvPr>
          <p:cNvGrpSpPr/>
          <p:nvPr/>
        </p:nvGrpSpPr>
        <p:grpSpPr>
          <a:xfrm>
            <a:off x="465731" y="2386712"/>
            <a:ext cx="2628900" cy="3131939"/>
            <a:chOff x="1930400" y="2984500"/>
            <a:chExt cx="2628900" cy="3131939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ADB15E88-45A8-4E8F-9622-2B852FB0860C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5" name="Rectangle : coins arrondis 64">
              <a:extLst>
                <a:ext uri="{FF2B5EF4-FFF2-40B4-BE49-F238E27FC236}">
                  <a16:creationId xmlns:a16="http://schemas.microsoft.com/office/drawing/2014/main" id="{67CEA1F6-DB39-4226-BD7D-7D184B2A9E7E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5CC52E2B-F445-4241-8B65-365CC248112C}"/>
                </a:ext>
              </a:extLst>
            </p:cNvPr>
            <p:cNvSpPr txBox="1"/>
            <p:nvPr/>
          </p:nvSpPr>
          <p:spPr>
            <a:xfrm>
              <a:off x="1930400" y="3336236"/>
              <a:ext cx="2628900" cy="24622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01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Présentation des structures d’accueil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l’ENI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</a:t>
              </a:r>
              <a:r>
                <a:rPr lang="fr-FR" sz="1600" dirty="0" err="1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Concentrix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E901234-B3E0-481D-B7EA-AA03944FEBFA}"/>
              </a:ext>
            </a:extLst>
          </p:cNvPr>
          <p:cNvGrpSpPr/>
          <p:nvPr/>
        </p:nvGrpSpPr>
        <p:grpSpPr>
          <a:xfrm>
            <a:off x="3304244" y="2384353"/>
            <a:ext cx="2628900" cy="3131939"/>
            <a:chOff x="2801472" y="7038228"/>
            <a:chExt cx="2628900" cy="3131939"/>
          </a:xfrm>
        </p:grpSpPr>
        <p:sp>
          <p:nvSpPr>
            <p:cNvPr id="67" name="Rectangle : coins arrondis 66">
              <a:extLst>
                <a:ext uri="{FF2B5EF4-FFF2-40B4-BE49-F238E27FC236}">
                  <a16:creationId xmlns:a16="http://schemas.microsoft.com/office/drawing/2014/main" id="{323EF328-205E-4E36-86CC-BEE2DB1378FB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8" name="Rectangle : coins arrondis 67">
              <a:extLst>
                <a:ext uri="{FF2B5EF4-FFF2-40B4-BE49-F238E27FC236}">
                  <a16:creationId xmlns:a16="http://schemas.microsoft.com/office/drawing/2014/main" id="{4B1998B0-5FA0-44B5-93F4-B4DEEAC6CB49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AFAAF222-312D-4707-8398-71602EA02F38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problématique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DB045655-CC33-43E1-8319-E6B54D37C7E1}"/>
              </a:ext>
            </a:extLst>
          </p:cNvPr>
          <p:cNvGrpSpPr/>
          <p:nvPr/>
        </p:nvGrpSpPr>
        <p:grpSpPr>
          <a:xfrm>
            <a:off x="6221516" y="2386710"/>
            <a:ext cx="2628900" cy="3131939"/>
            <a:chOff x="1901146" y="2984500"/>
            <a:chExt cx="2628900" cy="3131939"/>
          </a:xfrm>
        </p:grpSpPr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E08DD89E-A84A-49D4-8369-B48B3F47A1CE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4B624098-2D3D-4DEB-9937-7C70FBC5A8DF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1956F612-FE40-44D0-A12D-7C170341E81B}"/>
                </a:ext>
              </a:extLst>
            </p:cNvPr>
            <p:cNvSpPr txBox="1"/>
            <p:nvPr/>
          </p:nvSpPr>
          <p:spPr>
            <a:xfrm>
              <a:off x="1901146" y="3336238"/>
              <a:ext cx="2628900" cy="243143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endParaRPr lang="fr-FR" dirty="0">
                <a:solidFill>
                  <a:srgbClr val="00738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Proposition de solutions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A6BF3C5E-D00F-4574-A3BC-7215886E2F38}"/>
              </a:ext>
            </a:extLst>
          </p:cNvPr>
          <p:cNvGrpSpPr/>
          <p:nvPr/>
        </p:nvGrpSpPr>
        <p:grpSpPr>
          <a:xfrm>
            <a:off x="9095696" y="2384351"/>
            <a:ext cx="2628900" cy="3131939"/>
            <a:chOff x="2801472" y="7038228"/>
            <a:chExt cx="2628900" cy="3131939"/>
          </a:xfrm>
        </p:grpSpPr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C8F01AAB-A968-4375-90A8-7E26447625AC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6" name="Rectangle : coins arrondis 75">
              <a:extLst>
                <a:ext uri="{FF2B5EF4-FFF2-40B4-BE49-F238E27FC236}">
                  <a16:creationId xmlns:a16="http://schemas.microsoft.com/office/drawing/2014/main" id="{C641E5C2-3F78-4843-BF02-051C5B9CAC8E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185AD061-E118-43FA-898A-0BD4ACAC2270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</p:txBody>
        </p:sp>
      </p:grpSp>
      <p:sp>
        <p:nvSpPr>
          <p:cNvPr id="24" name="Ellipse 23">
            <a:extLst>
              <a:ext uri="{FF2B5EF4-FFF2-40B4-BE49-F238E27FC236}">
                <a16:creationId xmlns:a16="http://schemas.microsoft.com/office/drawing/2014/main" id="{B642A600-DEE2-4FB2-B653-FEAA8AAD4DDA}"/>
              </a:ext>
            </a:extLst>
          </p:cNvPr>
          <p:cNvSpPr/>
          <p:nvPr/>
        </p:nvSpPr>
        <p:spPr>
          <a:xfrm>
            <a:off x="9152409" y="-312988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5DB3C54C-9F33-492C-BE70-8B355B2D6943}"/>
              </a:ext>
            </a:extLst>
          </p:cNvPr>
          <p:cNvSpPr/>
          <p:nvPr/>
        </p:nvSpPr>
        <p:spPr>
          <a:xfrm>
            <a:off x="2439739" y="9917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1D42E172-936B-4DE7-8C3A-C73B9BDCFE49}"/>
              </a:ext>
            </a:extLst>
          </p:cNvPr>
          <p:cNvSpPr/>
          <p:nvPr/>
        </p:nvSpPr>
        <p:spPr>
          <a:xfrm>
            <a:off x="2739886" y="-877304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6D51E029-D753-4B69-81EF-C19BA9A7A31F}"/>
              </a:ext>
            </a:extLst>
          </p:cNvPr>
          <p:cNvSpPr/>
          <p:nvPr/>
        </p:nvSpPr>
        <p:spPr>
          <a:xfrm>
            <a:off x="2785036" y="318133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C336D294-B1D0-45D1-BF00-0E1612F187A7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854C7FF-ABDA-42C3-839D-743528796E5C}"/>
              </a:ext>
            </a:extLst>
          </p:cNvPr>
          <p:cNvSpPr txBox="1"/>
          <p:nvPr/>
        </p:nvSpPr>
        <p:spPr>
          <a:xfrm>
            <a:off x="2679591" y="318133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Plan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8C894A6D-F3B3-457A-B06D-9FD8D7CC0A56}"/>
              </a:ext>
            </a:extLst>
          </p:cNvPr>
          <p:cNvSpPr/>
          <p:nvPr/>
        </p:nvSpPr>
        <p:spPr>
          <a:xfrm>
            <a:off x="3190186" y="844027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E731ECDD-6620-48F0-96A1-3232410D2A85}"/>
              </a:ext>
            </a:extLst>
          </p:cNvPr>
          <p:cNvSpPr/>
          <p:nvPr/>
        </p:nvSpPr>
        <p:spPr>
          <a:xfrm>
            <a:off x="8792409" y="592000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0660721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4F6BB45B-B7BA-4EAE-9BC7-C82C48B4BE5F}"/>
              </a:ext>
            </a:extLst>
          </p:cNvPr>
          <p:cNvSpPr/>
          <p:nvPr/>
        </p:nvSpPr>
        <p:spPr>
          <a:xfrm rot="8100000">
            <a:off x="1618565" y="6379929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004B22A8-C3D7-4989-9303-DBA42C555859}"/>
              </a:ext>
            </a:extLst>
          </p:cNvPr>
          <p:cNvSpPr/>
          <p:nvPr/>
        </p:nvSpPr>
        <p:spPr>
          <a:xfrm rot="8100000">
            <a:off x="10078153" y="103704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DFA611C7-540A-4E3E-9E61-3B98B65C38C7}"/>
              </a:ext>
            </a:extLst>
          </p:cNvPr>
          <p:cNvSpPr/>
          <p:nvPr/>
        </p:nvSpPr>
        <p:spPr>
          <a:xfrm rot="8100000">
            <a:off x="-2681021" y="-559625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F073437-AB73-424B-8B1A-1C53AF849347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DB15E88-45A8-4E8F-9622-2B852FB0860C}"/>
              </a:ext>
            </a:extLst>
          </p:cNvPr>
          <p:cNvSpPr/>
          <p:nvPr/>
        </p:nvSpPr>
        <p:spPr>
          <a:xfrm>
            <a:off x="567331" y="702152"/>
            <a:ext cx="10922304" cy="5453696"/>
          </a:xfrm>
          <a:prstGeom prst="roundRect">
            <a:avLst>
              <a:gd name="adj" fmla="val 11431"/>
            </a:avLst>
          </a:prstGeom>
          <a:solidFill>
            <a:srgbClr val="0073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67CEA1F6-DB39-4226-BD7D-7D184B2A9E7E}"/>
              </a:ext>
            </a:extLst>
          </p:cNvPr>
          <p:cNvSpPr/>
          <p:nvPr/>
        </p:nvSpPr>
        <p:spPr>
          <a:xfrm>
            <a:off x="3310657" y="2031178"/>
            <a:ext cx="7503243" cy="280015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CC52E2B-F445-4241-8B65-365CC248112C}"/>
              </a:ext>
            </a:extLst>
          </p:cNvPr>
          <p:cNvSpPr txBox="1"/>
          <p:nvPr/>
        </p:nvSpPr>
        <p:spPr>
          <a:xfrm>
            <a:off x="4383603" y="2749339"/>
            <a:ext cx="5408782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4000" dirty="0">
                <a:solidFill>
                  <a:srgbClr val="007380"/>
                </a:solidFill>
                <a:latin typeface="Arial Rounded MT Bold" panose="020F0704030504030204" pitchFamily="34" charset="0"/>
                <a:cs typeface="Cascadia Code" panose="020B0609020000020004" pitchFamily="49" charset="0"/>
              </a:rPr>
              <a:t>Présentation des structures d’accueil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E901234-B3E0-481D-B7EA-AA03944FEBFA}"/>
              </a:ext>
            </a:extLst>
          </p:cNvPr>
          <p:cNvGrpSpPr/>
          <p:nvPr/>
        </p:nvGrpSpPr>
        <p:grpSpPr>
          <a:xfrm>
            <a:off x="12381998" y="2384353"/>
            <a:ext cx="2628900" cy="3131939"/>
            <a:chOff x="2801472" y="7038228"/>
            <a:chExt cx="2628900" cy="3131939"/>
          </a:xfrm>
        </p:grpSpPr>
        <p:sp>
          <p:nvSpPr>
            <p:cNvPr id="67" name="Rectangle : coins arrondis 66">
              <a:extLst>
                <a:ext uri="{FF2B5EF4-FFF2-40B4-BE49-F238E27FC236}">
                  <a16:creationId xmlns:a16="http://schemas.microsoft.com/office/drawing/2014/main" id="{323EF328-205E-4E36-86CC-BEE2DB1378FB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8" name="Rectangle : coins arrondis 67">
              <a:extLst>
                <a:ext uri="{FF2B5EF4-FFF2-40B4-BE49-F238E27FC236}">
                  <a16:creationId xmlns:a16="http://schemas.microsoft.com/office/drawing/2014/main" id="{4B1998B0-5FA0-44B5-93F4-B4DEEAC6CB49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AFAAF222-312D-4707-8398-71602EA02F38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1908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</a:t>
              </a:r>
              <a:r>
                <a:rPr lang="fr-FR" sz="1600" dirty="0" err="1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probématique</a:t>
              </a:r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DB045655-CC33-43E1-8319-E6B54D37C7E1}"/>
              </a:ext>
            </a:extLst>
          </p:cNvPr>
          <p:cNvGrpSpPr/>
          <p:nvPr/>
        </p:nvGrpSpPr>
        <p:grpSpPr>
          <a:xfrm>
            <a:off x="15328524" y="2386710"/>
            <a:ext cx="2628900" cy="3131939"/>
            <a:chOff x="1930400" y="2984500"/>
            <a:chExt cx="2628900" cy="3131939"/>
          </a:xfrm>
        </p:grpSpPr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E08DD89E-A84A-49D4-8369-B48B3F47A1CE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4B624098-2D3D-4DEB-9937-7C70FBC5A8DF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1956F612-FE40-44D0-A12D-7C170341E81B}"/>
                </a:ext>
              </a:extLst>
            </p:cNvPr>
            <p:cNvSpPr txBox="1"/>
            <p:nvPr/>
          </p:nvSpPr>
          <p:spPr>
            <a:xfrm>
              <a:off x="1930400" y="3334943"/>
              <a:ext cx="2628900" cy="19082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Choix de méthodologie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A6BF3C5E-D00F-4574-A3BC-7215886E2F38}"/>
              </a:ext>
            </a:extLst>
          </p:cNvPr>
          <p:cNvGrpSpPr/>
          <p:nvPr/>
        </p:nvGrpSpPr>
        <p:grpSpPr>
          <a:xfrm>
            <a:off x="18173450" y="2384351"/>
            <a:ext cx="2628900" cy="3131939"/>
            <a:chOff x="2801472" y="7038228"/>
            <a:chExt cx="2628900" cy="3131939"/>
          </a:xfrm>
        </p:grpSpPr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C8F01AAB-A968-4375-90A8-7E26447625AC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6" name="Rectangle : coins arrondis 75">
              <a:extLst>
                <a:ext uri="{FF2B5EF4-FFF2-40B4-BE49-F238E27FC236}">
                  <a16:creationId xmlns:a16="http://schemas.microsoft.com/office/drawing/2014/main" id="{C641E5C2-3F78-4843-BF02-051C5B9CAC8E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185AD061-E118-43FA-898A-0BD4ACAC2270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Démonstration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0FF6ED99-B7FA-4736-8189-6C3401F46856}"/>
              </a:ext>
            </a:extLst>
          </p:cNvPr>
          <p:cNvSpPr txBox="1"/>
          <p:nvPr/>
        </p:nvSpPr>
        <p:spPr>
          <a:xfrm>
            <a:off x="1138139" y="2484998"/>
            <a:ext cx="17955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01</a:t>
            </a:r>
            <a:endParaRPr lang="fr-MG" sz="10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9417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llipse 17">
            <a:extLst>
              <a:ext uri="{FF2B5EF4-FFF2-40B4-BE49-F238E27FC236}">
                <a16:creationId xmlns:a16="http://schemas.microsoft.com/office/drawing/2014/main" id="{0F073437-AB73-424B-8B1A-1C53AF849347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DB15E88-45A8-4E8F-9622-2B852FB0860C}"/>
              </a:ext>
            </a:extLst>
          </p:cNvPr>
          <p:cNvSpPr/>
          <p:nvPr/>
        </p:nvSpPr>
        <p:spPr>
          <a:xfrm>
            <a:off x="9392413" y="-1073428"/>
            <a:ext cx="3885399" cy="8454887"/>
          </a:xfrm>
          <a:prstGeom prst="roundRect">
            <a:avLst>
              <a:gd name="adj" fmla="val 11431"/>
            </a:avLst>
          </a:prstGeom>
          <a:solidFill>
            <a:srgbClr val="0073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E901234-B3E0-481D-B7EA-AA03944FEBFA}"/>
              </a:ext>
            </a:extLst>
          </p:cNvPr>
          <p:cNvGrpSpPr/>
          <p:nvPr/>
        </p:nvGrpSpPr>
        <p:grpSpPr>
          <a:xfrm>
            <a:off x="12381998" y="2384353"/>
            <a:ext cx="2628900" cy="3131939"/>
            <a:chOff x="2801472" y="7038228"/>
            <a:chExt cx="2628900" cy="3131939"/>
          </a:xfrm>
        </p:grpSpPr>
        <p:sp>
          <p:nvSpPr>
            <p:cNvPr id="67" name="Rectangle : coins arrondis 66">
              <a:extLst>
                <a:ext uri="{FF2B5EF4-FFF2-40B4-BE49-F238E27FC236}">
                  <a16:creationId xmlns:a16="http://schemas.microsoft.com/office/drawing/2014/main" id="{323EF328-205E-4E36-86CC-BEE2DB1378FB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8" name="Rectangle : coins arrondis 67">
              <a:extLst>
                <a:ext uri="{FF2B5EF4-FFF2-40B4-BE49-F238E27FC236}">
                  <a16:creationId xmlns:a16="http://schemas.microsoft.com/office/drawing/2014/main" id="{4B1998B0-5FA0-44B5-93F4-B4DEEAC6CB49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AFAAF222-312D-4707-8398-71602EA02F38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1908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</a:t>
              </a:r>
              <a:r>
                <a:rPr lang="fr-FR" sz="1600" dirty="0" err="1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probématique</a:t>
              </a:r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DB045655-CC33-43E1-8319-E6B54D37C7E1}"/>
              </a:ext>
            </a:extLst>
          </p:cNvPr>
          <p:cNvGrpSpPr/>
          <p:nvPr/>
        </p:nvGrpSpPr>
        <p:grpSpPr>
          <a:xfrm>
            <a:off x="15328524" y="2386710"/>
            <a:ext cx="2628900" cy="3131939"/>
            <a:chOff x="1930400" y="2984500"/>
            <a:chExt cx="2628900" cy="3131939"/>
          </a:xfrm>
        </p:grpSpPr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E08DD89E-A84A-49D4-8369-B48B3F47A1CE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4B624098-2D3D-4DEB-9937-7C70FBC5A8DF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1956F612-FE40-44D0-A12D-7C170341E81B}"/>
                </a:ext>
              </a:extLst>
            </p:cNvPr>
            <p:cNvSpPr txBox="1"/>
            <p:nvPr/>
          </p:nvSpPr>
          <p:spPr>
            <a:xfrm>
              <a:off x="1930400" y="3334943"/>
              <a:ext cx="2628900" cy="19082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Choix de méthodologie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A6BF3C5E-D00F-4574-A3BC-7215886E2F38}"/>
              </a:ext>
            </a:extLst>
          </p:cNvPr>
          <p:cNvGrpSpPr/>
          <p:nvPr/>
        </p:nvGrpSpPr>
        <p:grpSpPr>
          <a:xfrm>
            <a:off x="18173450" y="2384351"/>
            <a:ext cx="2628900" cy="3131939"/>
            <a:chOff x="2801472" y="7038228"/>
            <a:chExt cx="2628900" cy="3131939"/>
          </a:xfrm>
        </p:grpSpPr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C8F01AAB-A968-4375-90A8-7E26447625AC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6" name="Rectangle : coins arrondis 75">
              <a:extLst>
                <a:ext uri="{FF2B5EF4-FFF2-40B4-BE49-F238E27FC236}">
                  <a16:creationId xmlns:a16="http://schemas.microsoft.com/office/drawing/2014/main" id="{C641E5C2-3F78-4843-BF02-051C5B9CAC8E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185AD061-E118-43FA-898A-0BD4ACAC2270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Démonstration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20" name="Ellipse 19">
            <a:extLst>
              <a:ext uri="{FF2B5EF4-FFF2-40B4-BE49-F238E27FC236}">
                <a16:creationId xmlns:a16="http://schemas.microsoft.com/office/drawing/2014/main" id="{D68C5E14-64D6-4A2A-BEA9-2202DB9DCB24}"/>
              </a:ext>
            </a:extLst>
          </p:cNvPr>
          <p:cNvSpPr/>
          <p:nvPr/>
        </p:nvSpPr>
        <p:spPr>
          <a:xfrm>
            <a:off x="286783" y="6385977"/>
            <a:ext cx="900000" cy="90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4F60C59-18F0-4733-A8BA-8A854900ACBB}"/>
              </a:ext>
            </a:extLst>
          </p:cNvPr>
          <p:cNvSpPr/>
          <p:nvPr/>
        </p:nvSpPr>
        <p:spPr>
          <a:xfrm>
            <a:off x="7375966" y="115215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F448C222-C161-46DC-A7E2-2A77CD21C343}"/>
              </a:ext>
            </a:extLst>
          </p:cNvPr>
          <p:cNvSpPr/>
          <p:nvPr/>
        </p:nvSpPr>
        <p:spPr>
          <a:xfrm>
            <a:off x="2479287" y="5916309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863581DD-2451-4489-BC3E-75D18351CA6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5" y="432152"/>
            <a:ext cx="1080000" cy="1080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662A21C-AB6A-4ECE-89F6-5ABC44C2ED67}"/>
              </a:ext>
            </a:extLst>
          </p:cNvPr>
          <p:cNvSpPr txBox="1"/>
          <p:nvPr/>
        </p:nvSpPr>
        <p:spPr>
          <a:xfrm>
            <a:off x="1760810" y="710542"/>
            <a:ext cx="5463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7380"/>
                </a:solidFill>
                <a:latin typeface="Arial Rounded MT Bold" panose="020F0704030504030204" pitchFamily="34" charset="0"/>
              </a:rPr>
              <a:t>Ecole National d’Informatique</a:t>
            </a:r>
            <a:endParaRPr lang="fr-MG" sz="2800" dirty="0">
              <a:solidFill>
                <a:srgbClr val="00738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89180DA-ADBC-4373-B4BF-C411A5C05FD9}"/>
              </a:ext>
            </a:extLst>
          </p:cNvPr>
          <p:cNvSpPr txBox="1"/>
          <p:nvPr/>
        </p:nvSpPr>
        <p:spPr>
          <a:xfrm>
            <a:off x="736782" y="2051725"/>
            <a:ext cx="6639183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0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Établissement public de référence dans la formation en informatique et pépinière d’élite informaticiennes du pays</a:t>
            </a:r>
          </a:p>
          <a:p>
            <a:pPr algn="just"/>
            <a:endParaRPr lang="fr-FR" sz="20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algn="just"/>
            <a:r>
              <a:rPr lang="fr-FR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Objectif</a:t>
            </a:r>
          </a:p>
          <a:p>
            <a:pPr algn="just"/>
            <a:r>
              <a:rPr lang="fr-FR" sz="20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Former les techniciens et les ingénieurs de haut niveau, capables de répondre aux besoins et exigences des entreprises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A55064C-499A-4A4A-B2A4-78A733120060}"/>
              </a:ext>
            </a:extLst>
          </p:cNvPr>
          <p:cNvSpPr txBox="1"/>
          <p:nvPr/>
        </p:nvSpPr>
        <p:spPr>
          <a:xfrm>
            <a:off x="-7009436" y="1342500"/>
            <a:ext cx="693886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fr-FR" sz="2400" dirty="0">
                <a:solidFill>
                  <a:srgbClr val="007380"/>
                </a:solidFill>
                <a:latin typeface="Arial Rounded MT Bold" panose="020F0704030504030204" pitchFamily="34" charset="0"/>
                <a:cs typeface="Cascadia Code SemiBold" panose="020B0609020000020004" pitchFamily="49" charset="0"/>
              </a:rPr>
              <a:t>Mentions et parcours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Informatique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Génie logiciel et Base de </a:t>
            </a:r>
            <a:r>
              <a:rPr lang="fr-FR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Donnéees</a:t>
            </a: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(GBD)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Administration Système et Réseaux (ASR)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Informatique Générale (IG)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Intelligence Artificielle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Gouvernance et Ingénierie des Données (GID)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Objets Connectés et Cybersécurité (OCC)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Expertise digitale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Métiers du Digital (</a:t>
            </a:r>
            <a:r>
              <a:rPr lang="fr-FR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Mdi</a:t>
            </a: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Audits des Systèmes d’Information (ASI)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61A9BAF3-CFA0-43B7-A1F4-2081B608D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99" r="15201"/>
          <a:stretch>
            <a:fillRect/>
          </a:stretch>
        </p:blipFill>
        <p:spPr>
          <a:xfrm>
            <a:off x="8018766" y="432152"/>
            <a:ext cx="2800152" cy="6004955"/>
          </a:xfrm>
          <a:custGeom>
            <a:avLst/>
            <a:gdLst>
              <a:gd name="connsiteX0" fmla="*/ 1400077 w 2800152"/>
              <a:gd name="connsiteY0" fmla="*/ 0 h 6004955"/>
              <a:gd name="connsiteX1" fmla="*/ 1543226 w 2800152"/>
              <a:gd name="connsiteY1" fmla="*/ 7229 h 6004955"/>
              <a:gd name="connsiteX2" fmla="*/ 2800152 w 2800152"/>
              <a:gd name="connsiteY2" fmla="*/ 1400076 h 6004955"/>
              <a:gd name="connsiteX3" fmla="*/ 2800152 w 2800152"/>
              <a:gd name="connsiteY3" fmla="*/ 4604880 h 6004955"/>
              <a:gd name="connsiteX4" fmla="*/ 1543226 w 2800152"/>
              <a:gd name="connsiteY4" fmla="*/ 5997728 h 6004955"/>
              <a:gd name="connsiteX5" fmla="*/ 1400096 w 2800152"/>
              <a:gd name="connsiteY5" fmla="*/ 6004955 h 6004955"/>
              <a:gd name="connsiteX6" fmla="*/ 1400076 w 2800152"/>
              <a:gd name="connsiteY6" fmla="*/ 6004955 h 6004955"/>
              <a:gd name="connsiteX7" fmla="*/ 0 w 2800152"/>
              <a:gd name="connsiteY7" fmla="*/ 4604879 h 6004955"/>
              <a:gd name="connsiteX8" fmla="*/ 1 w 2800152"/>
              <a:gd name="connsiteY8" fmla="*/ 1400076 h 6004955"/>
              <a:gd name="connsiteX9" fmla="*/ 1256927 w 2800152"/>
              <a:gd name="connsiteY9" fmla="*/ 7229 h 6004955"/>
              <a:gd name="connsiteX10" fmla="*/ 1400076 w 2800152"/>
              <a:gd name="connsiteY10" fmla="*/ 0 h 6004955"/>
              <a:gd name="connsiteX11" fmla="*/ 1400077 w 2800152"/>
              <a:gd name="connsiteY11" fmla="*/ 0 h 6004955"/>
              <a:gd name="connsiteX12" fmla="*/ 1400077 w 2800152"/>
              <a:gd name="connsiteY12" fmla="*/ 0 h 6004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152" h="6004955">
                <a:moveTo>
                  <a:pt x="1400077" y="0"/>
                </a:moveTo>
                <a:lnTo>
                  <a:pt x="1543226" y="7229"/>
                </a:lnTo>
                <a:cubicBezTo>
                  <a:pt x="2249223" y="78926"/>
                  <a:pt x="2800152" y="675163"/>
                  <a:pt x="2800152" y="1400076"/>
                </a:cubicBezTo>
                <a:lnTo>
                  <a:pt x="2800152" y="4604880"/>
                </a:lnTo>
                <a:cubicBezTo>
                  <a:pt x="2800152" y="5329794"/>
                  <a:pt x="2249223" y="5926030"/>
                  <a:pt x="1543226" y="5997728"/>
                </a:cubicBezTo>
                <a:lnTo>
                  <a:pt x="1400096" y="6004955"/>
                </a:lnTo>
                <a:lnTo>
                  <a:pt x="1400076" y="6004955"/>
                </a:lnTo>
                <a:cubicBezTo>
                  <a:pt x="626835" y="6004955"/>
                  <a:pt x="0" y="5378120"/>
                  <a:pt x="0" y="4604879"/>
                </a:cubicBezTo>
                <a:lnTo>
                  <a:pt x="1" y="1400076"/>
                </a:lnTo>
                <a:cubicBezTo>
                  <a:pt x="1" y="675163"/>
                  <a:pt x="550930" y="78926"/>
                  <a:pt x="1256927" y="7229"/>
                </a:cubicBezTo>
                <a:close/>
                <a:moveTo>
                  <a:pt x="1400076" y="0"/>
                </a:moveTo>
                <a:lnTo>
                  <a:pt x="1400077" y="0"/>
                </a:lnTo>
                <a:lnTo>
                  <a:pt x="1400077" y="0"/>
                </a:lnTo>
                <a:close/>
              </a:path>
            </a:pathLst>
          </a:custGeom>
        </p:spPr>
      </p:pic>
      <p:sp>
        <p:nvSpPr>
          <p:cNvPr id="19" name="Ellipse 18">
            <a:extLst>
              <a:ext uri="{FF2B5EF4-FFF2-40B4-BE49-F238E27FC236}">
                <a16:creationId xmlns:a16="http://schemas.microsoft.com/office/drawing/2014/main" id="{DF7C4512-30E7-4E25-B954-2D1382F9173B}"/>
              </a:ext>
            </a:extLst>
          </p:cNvPr>
          <p:cNvSpPr/>
          <p:nvPr/>
        </p:nvSpPr>
        <p:spPr>
          <a:xfrm>
            <a:off x="7979670" y="252152"/>
            <a:ext cx="900000" cy="900000"/>
          </a:xfrm>
          <a:prstGeom prst="ellipse">
            <a:avLst/>
          </a:prstGeom>
          <a:solidFill>
            <a:srgbClr val="003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3732577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llipse 17">
            <a:extLst>
              <a:ext uri="{FF2B5EF4-FFF2-40B4-BE49-F238E27FC236}">
                <a16:creationId xmlns:a16="http://schemas.microsoft.com/office/drawing/2014/main" id="{0F073437-AB73-424B-8B1A-1C53AF849347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DB15E88-45A8-4E8F-9622-2B852FB0860C}"/>
              </a:ext>
            </a:extLst>
          </p:cNvPr>
          <p:cNvSpPr/>
          <p:nvPr/>
        </p:nvSpPr>
        <p:spPr>
          <a:xfrm>
            <a:off x="9392413" y="-1073428"/>
            <a:ext cx="3885399" cy="8454887"/>
          </a:xfrm>
          <a:prstGeom prst="roundRect">
            <a:avLst>
              <a:gd name="adj" fmla="val 11431"/>
            </a:avLst>
          </a:prstGeom>
          <a:solidFill>
            <a:srgbClr val="0073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E901234-B3E0-481D-B7EA-AA03944FEBFA}"/>
              </a:ext>
            </a:extLst>
          </p:cNvPr>
          <p:cNvGrpSpPr/>
          <p:nvPr/>
        </p:nvGrpSpPr>
        <p:grpSpPr>
          <a:xfrm>
            <a:off x="12381998" y="2384353"/>
            <a:ext cx="2628900" cy="3131939"/>
            <a:chOff x="2801472" y="7038228"/>
            <a:chExt cx="2628900" cy="3131939"/>
          </a:xfrm>
        </p:grpSpPr>
        <p:sp>
          <p:nvSpPr>
            <p:cNvPr id="67" name="Rectangle : coins arrondis 66">
              <a:extLst>
                <a:ext uri="{FF2B5EF4-FFF2-40B4-BE49-F238E27FC236}">
                  <a16:creationId xmlns:a16="http://schemas.microsoft.com/office/drawing/2014/main" id="{323EF328-205E-4E36-86CC-BEE2DB1378FB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8" name="Rectangle : coins arrondis 67">
              <a:extLst>
                <a:ext uri="{FF2B5EF4-FFF2-40B4-BE49-F238E27FC236}">
                  <a16:creationId xmlns:a16="http://schemas.microsoft.com/office/drawing/2014/main" id="{4B1998B0-5FA0-44B5-93F4-B4DEEAC6CB49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AFAAF222-312D-4707-8398-71602EA02F38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1908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</a:t>
              </a:r>
              <a:r>
                <a:rPr lang="fr-FR" sz="1600" dirty="0" err="1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probématique</a:t>
              </a:r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DB045655-CC33-43E1-8319-E6B54D37C7E1}"/>
              </a:ext>
            </a:extLst>
          </p:cNvPr>
          <p:cNvGrpSpPr/>
          <p:nvPr/>
        </p:nvGrpSpPr>
        <p:grpSpPr>
          <a:xfrm>
            <a:off x="15328524" y="2386710"/>
            <a:ext cx="2628900" cy="3131939"/>
            <a:chOff x="1930400" y="2984500"/>
            <a:chExt cx="2628900" cy="3131939"/>
          </a:xfrm>
        </p:grpSpPr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E08DD89E-A84A-49D4-8369-B48B3F47A1CE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4B624098-2D3D-4DEB-9937-7C70FBC5A8DF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1956F612-FE40-44D0-A12D-7C170341E81B}"/>
                </a:ext>
              </a:extLst>
            </p:cNvPr>
            <p:cNvSpPr txBox="1"/>
            <p:nvPr/>
          </p:nvSpPr>
          <p:spPr>
            <a:xfrm>
              <a:off x="1930400" y="3334943"/>
              <a:ext cx="2628900" cy="19082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Choix de méthodologie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A6BF3C5E-D00F-4574-A3BC-7215886E2F38}"/>
              </a:ext>
            </a:extLst>
          </p:cNvPr>
          <p:cNvGrpSpPr/>
          <p:nvPr/>
        </p:nvGrpSpPr>
        <p:grpSpPr>
          <a:xfrm>
            <a:off x="18173450" y="2384351"/>
            <a:ext cx="2628900" cy="3131939"/>
            <a:chOff x="2801472" y="7038228"/>
            <a:chExt cx="2628900" cy="3131939"/>
          </a:xfrm>
        </p:grpSpPr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C8F01AAB-A968-4375-90A8-7E26447625AC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6" name="Rectangle : coins arrondis 75">
              <a:extLst>
                <a:ext uri="{FF2B5EF4-FFF2-40B4-BE49-F238E27FC236}">
                  <a16:creationId xmlns:a16="http://schemas.microsoft.com/office/drawing/2014/main" id="{C641E5C2-3F78-4843-BF02-051C5B9CAC8E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185AD061-E118-43FA-898A-0BD4ACAC2270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Démonstration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20" name="Ellipse 19">
            <a:extLst>
              <a:ext uri="{FF2B5EF4-FFF2-40B4-BE49-F238E27FC236}">
                <a16:creationId xmlns:a16="http://schemas.microsoft.com/office/drawing/2014/main" id="{D68C5E14-64D6-4A2A-BEA9-2202DB9DCB24}"/>
              </a:ext>
            </a:extLst>
          </p:cNvPr>
          <p:cNvSpPr/>
          <p:nvPr/>
        </p:nvSpPr>
        <p:spPr>
          <a:xfrm>
            <a:off x="286783" y="6385977"/>
            <a:ext cx="900000" cy="90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4F60C59-18F0-4733-A8BA-8A854900ACBB}"/>
              </a:ext>
            </a:extLst>
          </p:cNvPr>
          <p:cNvSpPr/>
          <p:nvPr/>
        </p:nvSpPr>
        <p:spPr>
          <a:xfrm>
            <a:off x="7375966" y="115215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F448C222-C161-46DC-A7E2-2A77CD21C343}"/>
              </a:ext>
            </a:extLst>
          </p:cNvPr>
          <p:cNvSpPr/>
          <p:nvPr/>
        </p:nvSpPr>
        <p:spPr>
          <a:xfrm>
            <a:off x="2479287" y="5916309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863581DD-2451-4489-BC3E-75D18351CA6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5" y="432152"/>
            <a:ext cx="1080000" cy="1080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662A21C-AB6A-4ECE-89F6-5ABC44C2ED67}"/>
              </a:ext>
            </a:extLst>
          </p:cNvPr>
          <p:cNvSpPr txBox="1"/>
          <p:nvPr/>
        </p:nvSpPr>
        <p:spPr>
          <a:xfrm>
            <a:off x="1760810" y="710542"/>
            <a:ext cx="5463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3D5B"/>
                </a:solidFill>
                <a:latin typeface="Arial Rounded MT Bold" panose="020F0704030504030204" pitchFamily="34" charset="0"/>
              </a:rPr>
              <a:t>Ecole National d’Informatique</a:t>
            </a:r>
            <a:endParaRPr lang="fr-MG" sz="2800" dirty="0">
              <a:solidFill>
                <a:srgbClr val="003D5B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A55064C-499A-4A4A-B2A4-78A733120060}"/>
              </a:ext>
            </a:extLst>
          </p:cNvPr>
          <p:cNvSpPr txBox="1"/>
          <p:nvPr/>
        </p:nvSpPr>
        <p:spPr>
          <a:xfrm>
            <a:off x="810433" y="1252640"/>
            <a:ext cx="693886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fr-FR" sz="2400" dirty="0">
                <a:solidFill>
                  <a:srgbClr val="007380"/>
                </a:solidFill>
                <a:latin typeface="Arial Rounded MT Bold" panose="020F0704030504030204" pitchFamily="34" charset="0"/>
                <a:cs typeface="Cascadia Code SemiBold" panose="020B0609020000020004" pitchFamily="49" charset="0"/>
              </a:rPr>
              <a:t>Mentions et parcours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Informatique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Génie logiciel et Base de </a:t>
            </a:r>
            <a:r>
              <a:rPr lang="fr-FR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Donnéees</a:t>
            </a: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(GBD)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Administration Système et Réseaux (ASR)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Informatique Générale (IG)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Intelligence Artificielle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Gouvernance et Ingénierie des Données (GID)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Objets Connectés et Cybersécurité (OCC)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Expertise digitale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Métiers du Digital (</a:t>
            </a:r>
            <a:r>
              <a:rPr lang="fr-FR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Mdi</a:t>
            </a: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Audits des Systèmes d’Information (ASI)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974EF1FA-1C3B-4FE1-AAA7-D2246973BC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99" r="15201"/>
          <a:stretch>
            <a:fillRect/>
          </a:stretch>
        </p:blipFill>
        <p:spPr>
          <a:xfrm>
            <a:off x="8018766" y="432152"/>
            <a:ext cx="2800152" cy="6004955"/>
          </a:xfrm>
          <a:custGeom>
            <a:avLst/>
            <a:gdLst>
              <a:gd name="connsiteX0" fmla="*/ 1400077 w 2800152"/>
              <a:gd name="connsiteY0" fmla="*/ 0 h 6004955"/>
              <a:gd name="connsiteX1" fmla="*/ 1543226 w 2800152"/>
              <a:gd name="connsiteY1" fmla="*/ 7229 h 6004955"/>
              <a:gd name="connsiteX2" fmla="*/ 2800152 w 2800152"/>
              <a:gd name="connsiteY2" fmla="*/ 1400076 h 6004955"/>
              <a:gd name="connsiteX3" fmla="*/ 2800152 w 2800152"/>
              <a:gd name="connsiteY3" fmla="*/ 4604880 h 6004955"/>
              <a:gd name="connsiteX4" fmla="*/ 1543226 w 2800152"/>
              <a:gd name="connsiteY4" fmla="*/ 5997728 h 6004955"/>
              <a:gd name="connsiteX5" fmla="*/ 1400096 w 2800152"/>
              <a:gd name="connsiteY5" fmla="*/ 6004955 h 6004955"/>
              <a:gd name="connsiteX6" fmla="*/ 1400076 w 2800152"/>
              <a:gd name="connsiteY6" fmla="*/ 6004955 h 6004955"/>
              <a:gd name="connsiteX7" fmla="*/ 0 w 2800152"/>
              <a:gd name="connsiteY7" fmla="*/ 4604879 h 6004955"/>
              <a:gd name="connsiteX8" fmla="*/ 1 w 2800152"/>
              <a:gd name="connsiteY8" fmla="*/ 1400076 h 6004955"/>
              <a:gd name="connsiteX9" fmla="*/ 1256927 w 2800152"/>
              <a:gd name="connsiteY9" fmla="*/ 7229 h 6004955"/>
              <a:gd name="connsiteX10" fmla="*/ 1400076 w 2800152"/>
              <a:gd name="connsiteY10" fmla="*/ 0 h 6004955"/>
              <a:gd name="connsiteX11" fmla="*/ 1400077 w 2800152"/>
              <a:gd name="connsiteY11" fmla="*/ 0 h 6004955"/>
              <a:gd name="connsiteX12" fmla="*/ 1400077 w 2800152"/>
              <a:gd name="connsiteY12" fmla="*/ 0 h 6004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152" h="6004955">
                <a:moveTo>
                  <a:pt x="1400077" y="0"/>
                </a:moveTo>
                <a:lnTo>
                  <a:pt x="1543226" y="7229"/>
                </a:lnTo>
                <a:cubicBezTo>
                  <a:pt x="2249223" y="78926"/>
                  <a:pt x="2800152" y="675163"/>
                  <a:pt x="2800152" y="1400076"/>
                </a:cubicBezTo>
                <a:lnTo>
                  <a:pt x="2800152" y="4604880"/>
                </a:lnTo>
                <a:cubicBezTo>
                  <a:pt x="2800152" y="5329794"/>
                  <a:pt x="2249223" y="5926030"/>
                  <a:pt x="1543226" y="5997728"/>
                </a:cubicBezTo>
                <a:lnTo>
                  <a:pt x="1400096" y="6004955"/>
                </a:lnTo>
                <a:lnTo>
                  <a:pt x="1400076" y="6004955"/>
                </a:lnTo>
                <a:cubicBezTo>
                  <a:pt x="626835" y="6004955"/>
                  <a:pt x="0" y="5378120"/>
                  <a:pt x="0" y="4604879"/>
                </a:cubicBezTo>
                <a:lnTo>
                  <a:pt x="1" y="1400076"/>
                </a:lnTo>
                <a:cubicBezTo>
                  <a:pt x="1" y="675163"/>
                  <a:pt x="550930" y="78926"/>
                  <a:pt x="1256927" y="7229"/>
                </a:cubicBezTo>
                <a:close/>
                <a:moveTo>
                  <a:pt x="1400076" y="0"/>
                </a:moveTo>
                <a:lnTo>
                  <a:pt x="1400077" y="0"/>
                </a:lnTo>
                <a:lnTo>
                  <a:pt x="1400077" y="0"/>
                </a:lnTo>
                <a:close/>
              </a:path>
            </a:pathLst>
          </a:custGeom>
        </p:spPr>
      </p:pic>
      <p:sp>
        <p:nvSpPr>
          <p:cNvPr id="19" name="Ellipse 18">
            <a:extLst>
              <a:ext uri="{FF2B5EF4-FFF2-40B4-BE49-F238E27FC236}">
                <a16:creationId xmlns:a16="http://schemas.microsoft.com/office/drawing/2014/main" id="{DF7C4512-30E7-4E25-B954-2D1382F9173B}"/>
              </a:ext>
            </a:extLst>
          </p:cNvPr>
          <p:cNvSpPr/>
          <p:nvPr/>
        </p:nvSpPr>
        <p:spPr>
          <a:xfrm>
            <a:off x="7979670" y="252152"/>
            <a:ext cx="900000" cy="900000"/>
          </a:xfrm>
          <a:prstGeom prst="ellipse">
            <a:avLst/>
          </a:prstGeom>
          <a:solidFill>
            <a:srgbClr val="003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9255233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llipse 17">
            <a:extLst>
              <a:ext uri="{FF2B5EF4-FFF2-40B4-BE49-F238E27FC236}">
                <a16:creationId xmlns:a16="http://schemas.microsoft.com/office/drawing/2014/main" id="{0F073437-AB73-424B-8B1A-1C53AF849347}"/>
              </a:ext>
            </a:extLst>
          </p:cNvPr>
          <p:cNvSpPr/>
          <p:nvPr/>
        </p:nvSpPr>
        <p:spPr>
          <a:xfrm>
            <a:off x="4962710" y="153830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DB15E88-45A8-4E8F-9622-2B852FB0860C}"/>
              </a:ext>
            </a:extLst>
          </p:cNvPr>
          <p:cNvSpPr/>
          <p:nvPr/>
        </p:nvSpPr>
        <p:spPr>
          <a:xfrm>
            <a:off x="-1305935" y="-943479"/>
            <a:ext cx="3885399" cy="8454887"/>
          </a:xfrm>
          <a:prstGeom prst="roundRect">
            <a:avLst>
              <a:gd name="adj" fmla="val 11431"/>
            </a:avLst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E901234-B3E0-481D-B7EA-AA03944FEBFA}"/>
              </a:ext>
            </a:extLst>
          </p:cNvPr>
          <p:cNvGrpSpPr/>
          <p:nvPr/>
        </p:nvGrpSpPr>
        <p:grpSpPr>
          <a:xfrm>
            <a:off x="12381998" y="2384353"/>
            <a:ext cx="2628900" cy="3131939"/>
            <a:chOff x="2801472" y="7038228"/>
            <a:chExt cx="2628900" cy="3131939"/>
          </a:xfrm>
        </p:grpSpPr>
        <p:sp>
          <p:nvSpPr>
            <p:cNvPr id="67" name="Rectangle : coins arrondis 66">
              <a:extLst>
                <a:ext uri="{FF2B5EF4-FFF2-40B4-BE49-F238E27FC236}">
                  <a16:creationId xmlns:a16="http://schemas.microsoft.com/office/drawing/2014/main" id="{323EF328-205E-4E36-86CC-BEE2DB1378FB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8" name="Rectangle : coins arrondis 67">
              <a:extLst>
                <a:ext uri="{FF2B5EF4-FFF2-40B4-BE49-F238E27FC236}">
                  <a16:creationId xmlns:a16="http://schemas.microsoft.com/office/drawing/2014/main" id="{4B1998B0-5FA0-44B5-93F4-B4DEEAC6CB49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AFAAF222-312D-4707-8398-71602EA02F38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1908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</a:t>
              </a:r>
              <a:r>
                <a:rPr lang="fr-FR" sz="1600" dirty="0" err="1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probématique</a:t>
              </a:r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DB045655-CC33-43E1-8319-E6B54D37C7E1}"/>
              </a:ext>
            </a:extLst>
          </p:cNvPr>
          <p:cNvGrpSpPr/>
          <p:nvPr/>
        </p:nvGrpSpPr>
        <p:grpSpPr>
          <a:xfrm>
            <a:off x="15328524" y="2386710"/>
            <a:ext cx="2628900" cy="3131939"/>
            <a:chOff x="1930400" y="2984500"/>
            <a:chExt cx="2628900" cy="3131939"/>
          </a:xfrm>
        </p:grpSpPr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E08DD89E-A84A-49D4-8369-B48B3F47A1CE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4B624098-2D3D-4DEB-9937-7C70FBC5A8DF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1956F612-FE40-44D0-A12D-7C170341E81B}"/>
                </a:ext>
              </a:extLst>
            </p:cNvPr>
            <p:cNvSpPr txBox="1"/>
            <p:nvPr/>
          </p:nvSpPr>
          <p:spPr>
            <a:xfrm>
              <a:off x="1930400" y="3334943"/>
              <a:ext cx="2628900" cy="19082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Choix de méthodologie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A6BF3C5E-D00F-4574-A3BC-7215886E2F38}"/>
              </a:ext>
            </a:extLst>
          </p:cNvPr>
          <p:cNvGrpSpPr/>
          <p:nvPr/>
        </p:nvGrpSpPr>
        <p:grpSpPr>
          <a:xfrm>
            <a:off x="18173450" y="2384351"/>
            <a:ext cx="2628900" cy="3131939"/>
            <a:chOff x="2801472" y="7038228"/>
            <a:chExt cx="2628900" cy="3131939"/>
          </a:xfrm>
        </p:grpSpPr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C8F01AAB-A968-4375-90A8-7E26447625AC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6" name="Rectangle : coins arrondis 75">
              <a:extLst>
                <a:ext uri="{FF2B5EF4-FFF2-40B4-BE49-F238E27FC236}">
                  <a16:creationId xmlns:a16="http://schemas.microsoft.com/office/drawing/2014/main" id="{C641E5C2-3F78-4843-BF02-051C5B9CAC8E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185AD061-E118-43FA-898A-0BD4ACAC2270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Démonstration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20" name="Ellipse 19">
            <a:extLst>
              <a:ext uri="{FF2B5EF4-FFF2-40B4-BE49-F238E27FC236}">
                <a16:creationId xmlns:a16="http://schemas.microsoft.com/office/drawing/2014/main" id="{D68C5E14-64D6-4A2A-BEA9-2202DB9DCB24}"/>
              </a:ext>
            </a:extLst>
          </p:cNvPr>
          <p:cNvSpPr/>
          <p:nvPr/>
        </p:nvSpPr>
        <p:spPr>
          <a:xfrm>
            <a:off x="11142543" y="5418138"/>
            <a:ext cx="900000" cy="90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F448C222-C161-46DC-A7E2-2A77CD21C343}"/>
              </a:ext>
            </a:extLst>
          </p:cNvPr>
          <p:cNvSpPr/>
          <p:nvPr/>
        </p:nvSpPr>
        <p:spPr>
          <a:xfrm>
            <a:off x="10257504" y="6282464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7E596EF0-5EF4-4557-9C91-BE11F69F04A5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35" t="38580" r="22088" b="35697"/>
          <a:stretch/>
        </p:blipFill>
        <p:spPr bwMode="auto">
          <a:xfrm>
            <a:off x="7885956" y="243830"/>
            <a:ext cx="4078231" cy="10856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5" name="Ellipse 24">
            <a:extLst>
              <a:ext uri="{FF2B5EF4-FFF2-40B4-BE49-F238E27FC236}">
                <a16:creationId xmlns:a16="http://schemas.microsoft.com/office/drawing/2014/main" id="{800AA097-24FE-4630-8702-DF83C2884C84}"/>
              </a:ext>
            </a:extLst>
          </p:cNvPr>
          <p:cNvSpPr/>
          <p:nvPr/>
        </p:nvSpPr>
        <p:spPr>
          <a:xfrm>
            <a:off x="11065670" y="5059996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41AAE983-73F0-4D32-A557-4F7ABBE6F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52" r="24675"/>
          <a:stretch>
            <a:fillRect/>
          </a:stretch>
        </p:blipFill>
        <p:spPr>
          <a:xfrm>
            <a:off x="1179388" y="426522"/>
            <a:ext cx="2800152" cy="6004956"/>
          </a:xfrm>
          <a:custGeom>
            <a:avLst/>
            <a:gdLst>
              <a:gd name="connsiteX0" fmla="*/ 1400076 w 2800152"/>
              <a:gd name="connsiteY0" fmla="*/ 0 h 6004956"/>
              <a:gd name="connsiteX1" fmla="*/ 1543226 w 2800152"/>
              <a:gd name="connsiteY1" fmla="*/ 7229 h 6004956"/>
              <a:gd name="connsiteX2" fmla="*/ 2800152 w 2800152"/>
              <a:gd name="connsiteY2" fmla="*/ 1400076 h 6004956"/>
              <a:gd name="connsiteX3" fmla="*/ 2800152 w 2800152"/>
              <a:gd name="connsiteY3" fmla="*/ 4604880 h 6004956"/>
              <a:gd name="connsiteX4" fmla="*/ 1400076 w 2800152"/>
              <a:gd name="connsiteY4" fmla="*/ 6004956 h 6004956"/>
              <a:gd name="connsiteX5" fmla="*/ 1400076 w 2800152"/>
              <a:gd name="connsiteY5" fmla="*/ 6004955 h 6004956"/>
              <a:gd name="connsiteX6" fmla="*/ 0 w 2800152"/>
              <a:gd name="connsiteY6" fmla="*/ 4604879 h 6004956"/>
              <a:gd name="connsiteX7" fmla="*/ 1 w 2800152"/>
              <a:gd name="connsiteY7" fmla="*/ 1400076 h 6004956"/>
              <a:gd name="connsiteX8" fmla="*/ 1256927 w 2800152"/>
              <a:gd name="connsiteY8" fmla="*/ 7229 h 600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00152" h="6004956">
                <a:moveTo>
                  <a:pt x="1400076" y="0"/>
                </a:moveTo>
                <a:lnTo>
                  <a:pt x="1543226" y="7229"/>
                </a:lnTo>
                <a:cubicBezTo>
                  <a:pt x="2249223" y="78926"/>
                  <a:pt x="2800152" y="675163"/>
                  <a:pt x="2800152" y="1400076"/>
                </a:cubicBezTo>
                <a:lnTo>
                  <a:pt x="2800152" y="4604880"/>
                </a:lnTo>
                <a:cubicBezTo>
                  <a:pt x="2800152" y="5378121"/>
                  <a:pt x="2173317" y="6004956"/>
                  <a:pt x="1400076" y="6004956"/>
                </a:cubicBezTo>
                <a:lnTo>
                  <a:pt x="1400076" y="6004955"/>
                </a:lnTo>
                <a:cubicBezTo>
                  <a:pt x="626835" y="6004955"/>
                  <a:pt x="0" y="5378120"/>
                  <a:pt x="0" y="4604879"/>
                </a:cubicBezTo>
                <a:lnTo>
                  <a:pt x="1" y="1400076"/>
                </a:lnTo>
                <a:cubicBezTo>
                  <a:pt x="1" y="675163"/>
                  <a:pt x="550930" y="78926"/>
                  <a:pt x="1256927" y="7229"/>
                </a:cubicBezTo>
                <a:close/>
              </a:path>
            </a:pathLst>
          </a:custGeom>
        </p:spPr>
      </p:pic>
      <p:sp>
        <p:nvSpPr>
          <p:cNvPr id="19" name="Ellipse 18">
            <a:extLst>
              <a:ext uri="{FF2B5EF4-FFF2-40B4-BE49-F238E27FC236}">
                <a16:creationId xmlns:a16="http://schemas.microsoft.com/office/drawing/2014/main" id="{DF7C4512-30E7-4E25-B954-2D1382F9173B}"/>
              </a:ext>
            </a:extLst>
          </p:cNvPr>
          <p:cNvSpPr/>
          <p:nvPr/>
        </p:nvSpPr>
        <p:spPr>
          <a:xfrm>
            <a:off x="3204027" y="336645"/>
            <a:ext cx="900000" cy="90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4F60C59-18F0-4733-A8BA-8A854900ACBB}"/>
              </a:ext>
            </a:extLst>
          </p:cNvPr>
          <p:cNvSpPr/>
          <p:nvPr/>
        </p:nvSpPr>
        <p:spPr>
          <a:xfrm>
            <a:off x="3994899" y="606645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80148304-2A58-4720-977A-68822981EF62}"/>
              </a:ext>
            </a:extLst>
          </p:cNvPr>
          <p:cNvSpPr txBox="1"/>
          <p:nvPr/>
        </p:nvSpPr>
        <p:spPr>
          <a:xfrm>
            <a:off x="4500365" y="2099024"/>
            <a:ext cx="71615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b="1" dirty="0" err="1"/>
              <a:t>Concentrix</a:t>
            </a:r>
            <a:r>
              <a:rPr lang="fr-FR" sz="2400" dirty="0"/>
              <a:t> est une entreprise internationale spécialisée dans les </a:t>
            </a:r>
            <a:r>
              <a:rPr lang="fr-FR" sz="2400" b="1" dirty="0"/>
              <a:t>services de relation client et d’externalisation des processus métiers</a:t>
            </a:r>
            <a:r>
              <a:rPr lang="fr-FR" sz="2400" dirty="0"/>
              <a:t>.</a:t>
            </a:r>
          </a:p>
          <a:p>
            <a:pPr algn="just"/>
            <a:endParaRPr lang="fr-FR" sz="2400" dirty="0"/>
          </a:p>
          <a:p>
            <a:pPr algn="just"/>
            <a:r>
              <a:rPr lang="fr-FR" sz="2400" dirty="0"/>
              <a:t>Elle accompagne les entreprises dans l’</a:t>
            </a:r>
            <a:r>
              <a:rPr lang="fr-FR" sz="2400" b="1" dirty="0"/>
              <a:t>amélioration de l’expérience client</a:t>
            </a:r>
            <a:r>
              <a:rPr lang="fr-FR" sz="2400" dirty="0"/>
              <a:t> à travers des solutions technologiques et organisationnelles.</a:t>
            </a:r>
          </a:p>
        </p:txBody>
      </p:sp>
    </p:spTree>
    <p:extLst>
      <p:ext uri="{BB962C8B-B14F-4D97-AF65-F5344CB8AC3E}">
        <p14:creationId xmlns:p14="http://schemas.microsoft.com/office/powerpoint/2010/main" val="23307942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llipse 17">
            <a:extLst>
              <a:ext uri="{FF2B5EF4-FFF2-40B4-BE49-F238E27FC236}">
                <a16:creationId xmlns:a16="http://schemas.microsoft.com/office/drawing/2014/main" id="{0F073437-AB73-424B-8B1A-1C53AF849347}"/>
              </a:ext>
            </a:extLst>
          </p:cNvPr>
          <p:cNvSpPr/>
          <p:nvPr/>
        </p:nvSpPr>
        <p:spPr>
          <a:xfrm>
            <a:off x="4962710" y="153830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DB15E88-45A8-4E8F-9622-2B852FB0860C}"/>
              </a:ext>
            </a:extLst>
          </p:cNvPr>
          <p:cNvSpPr/>
          <p:nvPr/>
        </p:nvSpPr>
        <p:spPr>
          <a:xfrm>
            <a:off x="-1305935" y="-943479"/>
            <a:ext cx="3885399" cy="8454887"/>
          </a:xfrm>
          <a:prstGeom prst="roundRect">
            <a:avLst>
              <a:gd name="adj" fmla="val 11431"/>
            </a:avLst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E901234-B3E0-481D-B7EA-AA03944FEBFA}"/>
              </a:ext>
            </a:extLst>
          </p:cNvPr>
          <p:cNvGrpSpPr/>
          <p:nvPr/>
        </p:nvGrpSpPr>
        <p:grpSpPr>
          <a:xfrm>
            <a:off x="12381998" y="2384353"/>
            <a:ext cx="2628900" cy="3131939"/>
            <a:chOff x="2801472" y="7038228"/>
            <a:chExt cx="2628900" cy="3131939"/>
          </a:xfrm>
        </p:grpSpPr>
        <p:sp>
          <p:nvSpPr>
            <p:cNvPr id="67" name="Rectangle : coins arrondis 66">
              <a:extLst>
                <a:ext uri="{FF2B5EF4-FFF2-40B4-BE49-F238E27FC236}">
                  <a16:creationId xmlns:a16="http://schemas.microsoft.com/office/drawing/2014/main" id="{323EF328-205E-4E36-86CC-BEE2DB1378FB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8" name="Rectangle : coins arrondis 67">
              <a:extLst>
                <a:ext uri="{FF2B5EF4-FFF2-40B4-BE49-F238E27FC236}">
                  <a16:creationId xmlns:a16="http://schemas.microsoft.com/office/drawing/2014/main" id="{4B1998B0-5FA0-44B5-93F4-B4DEEAC6CB49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AFAAF222-312D-4707-8398-71602EA02F38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1908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</a:t>
              </a:r>
              <a:r>
                <a:rPr lang="fr-FR" sz="1600" dirty="0" err="1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probématique</a:t>
              </a:r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DB045655-CC33-43E1-8319-E6B54D37C7E1}"/>
              </a:ext>
            </a:extLst>
          </p:cNvPr>
          <p:cNvGrpSpPr/>
          <p:nvPr/>
        </p:nvGrpSpPr>
        <p:grpSpPr>
          <a:xfrm>
            <a:off x="15328524" y="2386710"/>
            <a:ext cx="2628900" cy="3131939"/>
            <a:chOff x="1930400" y="2984500"/>
            <a:chExt cx="2628900" cy="3131939"/>
          </a:xfrm>
        </p:grpSpPr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E08DD89E-A84A-49D4-8369-B48B3F47A1CE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4B624098-2D3D-4DEB-9937-7C70FBC5A8DF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1956F612-FE40-44D0-A12D-7C170341E81B}"/>
                </a:ext>
              </a:extLst>
            </p:cNvPr>
            <p:cNvSpPr txBox="1"/>
            <p:nvPr/>
          </p:nvSpPr>
          <p:spPr>
            <a:xfrm>
              <a:off x="1930400" y="3334943"/>
              <a:ext cx="2628900" cy="19082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Choix de méthodologie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A6BF3C5E-D00F-4574-A3BC-7215886E2F38}"/>
              </a:ext>
            </a:extLst>
          </p:cNvPr>
          <p:cNvGrpSpPr/>
          <p:nvPr/>
        </p:nvGrpSpPr>
        <p:grpSpPr>
          <a:xfrm>
            <a:off x="18173450" y="2384351"/>
            <a:ext cx="2628900" cy="3131939"/>
            <a:chOff x="2801472" y="7038228"/>
            <a:chExt cx="2628900" cy="3131939"/>
          </a:xfrm>
        </p:grpSpPr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C8F01AAB-A968-4375-90A8-7E26447625AC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6" name="Rectangle : coins arrondis 75">
              <a:extLst>
                <a:ext uri="{FF2B5EF4-FFF2-40B4-BE49-F238E27FC236}">
                  <a16:creationId xmlns:a16="http://schemas.microsoft.com/office/drawing/2014/main" id="{C641E5C2-3F78-4843-BF02-051C5B9CAC8E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185AD061-E118-43FA-898A-0BD4ACAC2270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Démonstration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20" name="Ellipse 19">
            <a:extLst>
              <a:ext uri="{FF2B5EF4-FFF2-40B4-BE49-F238E27FC236}">
                <a16:creationId xmlns:a16="http://schemas.microsoft.com/office/drawing/2014/main" id="{D68C5E14-64D6-4A2A-BEA9-2202DB9DCB24}"/>
              </a:ext>
            </a:extLst>
          </p:cNvPr>
          <p:cNvSpPr/>
          <p:nvPr/>
        </p:nvSpPr>
        <p:spPr>
          <a:xfrm>
            <a:off x="11142543" y="5418138"/>
            <a:ext cx="900000" cy="90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F448C222-C161-46DC-A7E2-2A77CD21C343}"/>
              </a:ext>
            </a:extLst>
          </p:cNvPr>
          <p:cNvSpPr/>
          <p:nvPr/>
        </p:nvSpPr>
        <p:spPr>
          <a:xfrm>
            <a:off x="10257504" y="6282464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7E596EF0-5EF4-4557-9C91-BE11F69F04A5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35" t="38580" r="22088" b="35697"/>
          <a:stretch/>
        </p:blipFill>
        <p:spPr bwMode="auto">
          <a:xfrm>
            <a:off x="7885956" y="243830"/>
            <a:ext cx="4078231" cy="10856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5" name="Ellipse 24">
            <a:extLst>
              <a:ext uri="{FF2B5EF4-FFF2-40B4-BE49-F238E27FC236}">
                <a16:creationId xmlns:a16="http://schemas.microsoft.com/office/drawing/2014/main" id="{800AA097-24FE-4630-8702-DF83C2884C84}"/>
              </a:ext>
            </a:extLst>
          </p:cNvPr>
          <p:cNvSpPr/>
          <p:nvPr/>
        </p:nvSpPr>
        <p:spPr>
          <a:xfrm>
            <a:off x="11065670" y="5059996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41AAE983-73F0-4D32-A557-4F7ABBE6F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52" r="24675"/>
          <a:stretch>
            <a:fillRect/>
          </a:stretch>
        </p:blipFill>
        <p:spPr>
          <a:xfrm>
            <a:off x="1179388" y="426522"/>
            <a:ext cx="2800152" cy="6004956"/>
          </a:xfrm>
          <a:custGeom>
            <a:avLst/>
            <a:gdLst>
              <a:gd name="connsiteX0" fmla="*/ 1400076 w 2800152"/>
              <a:gd name="connsiteY0" fmla="*/ 0 h 6004956"/>
              <a:gd name="connsiteX1" fmla="*/ 1543226 w 2800152"/>
              <a:gd name="connsiteY1" fmla="*/ 7229 h 6004956"/>
              <a:gd name="connsiteX2" fmla="*/ 2800152 w 2800152"/>
              <a:gd name="connsiteY2" fmla="*/ 1400076 h 6004956"/>
              <a:gd name="connsiteX3" fmla="*/ 2800152 w 2800152"/>
              <a:gd name="connsiteY3" fmla="*/ 4604880 h 6004956"/>
              <a:gd name="connsiteX4" fmla="*/ 1400076 w 2800152"/>
              <a:gd name="connsiteY4" fmla="*/ 6004956 h 6004956"/>
              <a:gd name="connsiteX5" fmla="*/ 1400076 w 2800152"/>
              <a:gd name="connsiteY5" fmla="*/ 6004955 h 6004956"/>
              <a:gd name="connsiteX6" fmla="*/ 0 w 2800152"/>
              <a:gd name="connsiteY6" fmla="*/ 4604879 h 6004956"/>
              <a:gd name="connsiteX7" fmla="*/ 1 w 2800152"/>
              <a:gd name="connsiteY7" fmla="*/ 1400076 h 6004956"/>
              <a:gd name="connsiteX8" fmla="*/ 1256927 w 2800152"/>
              <a:gd name="connsiteY8" fmla="*/ 7229 h 600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00152" h="6004956">
                <a:moveTo>
                  <a:pt x="1400076" y="0"/>
                </a:moveTo>
                <a:lnTo>
                  <a:pt x="1543226" y="7229"/>
                </a:lnTo>
                <a:cubicBezTo>
                  <a:pt x="2249223" y="78926"/>
                  <a:pt x="2800152" y="675163"/>
                  <a:pt x="2800152" y="1400076"/>
                </a:cubicBezTo>
                <a:lnTo>
                  <a:pt x="2800152" y="4604880"/>
                </a:lnTo>
                <a:cubicBezTo>
                  <a:pt x="2800152" y="5378121"/>
                  <a:pt x="2173317" y="6004956"/>
                  <a:pt x="1400076" y="6004956"/>
                </a:cubicBezTo>
                <a:lnTo>
                  <a:pt x="1400076" y="6004955"/>
                </a:lnTo>
                <a:cubicBezTo>
                  <a:pt x="626835" y="6004955"/>
                  <a:pt x="0" y="5378120"/>
                  <a:pt x="0" y="4604879"/>
                </a:cubicBezTo>
                <a:lnTo>
                  <a:pt x="1" y="1400076"/>
                </a:lnTo>
                <a:cubicBezTo>
                  <a:pt x="1" y="675163"/>
                  <a:pt x="550930" y="78926"/>
                  <a:pt x="1256927" y="7229"/>
                </a:cubicBezTo>
                <a:close/>
              </a:path>
            </a:pathLst>
          </a:custGeom>
        </p:spPr>
      </p:pic>
      <p:sp>
        <p:nvSpPr>
          <p:cNvPr id="19" name="Ellipse 18">
            <a:extLst>
              <a:ext uri="{FF2B5EF4-FFF2-40B4-BE49-F238E27FC236}">
                <a16:creationId xmlns:a16="http://schemas.microsoft.com/office/drawing/2014/main" id="{DF7C4512-30E7-4E25-B954-2D1382F9173B}"/>
              </a:ext>
            </a:extLst>
          </p:cNvPr>
          <p:cNvSpPr/>
          <p:nvPr/>
        </p:nvSpPr>
        <p:spPr>
          <a:xfrm>
            <a:off x="3204027" y="336645"/>
            <a:ext cx="900000" cy="90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4F60C59-18F0-4733-A8BA-8A854900ACBB}"/>
              </a:ext>
            </a:extLst>
          </p:cNvPr>
          <p:cNvSpPr/>
          <p:nvPr/>
        </p:nvSpPr>
        <p:spPr>
          <a:xfrm>
            <a:off x="3994899" y="606645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678C6F5-3077-42CB-9EC5-AF1F4F4F4469}"/>
              </a:ext>
            </a:extLst>
          </p:cNvPr>
          <p:cNvSpPr txBox="1"/>
          <p:nvPr/>
        </p:nvSpPr>
        <p:spPr>
          <a:xfrm>
            <a:off x="4461218" y="1163403"/>
            <a:ext cx="69388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fr-FR" sz="2400" dirty="0">
                <a:solidFill>
                  <a:srgbClr val="007380"/>
                </a:solidFill>
                <a:latin typeface="Arial Rounded MT Bold" panose="020F0704030504030204" pitchFamily="34" charset="0"/>
                <a:cs typeface="Cascadia Code SemiBold" panose="020B0609020000020004" pitchFamily="49" charset="0"/>
              </a:rPr>
              <a:t>Sites </a:t>
            </a:r>
            <a:r>
              <a:rPr lang="fr-FR" sz="2400" dirty="0" err="1">
                <a:solidFill>
                  <a:srgbClr val="007380"/>
                </a:solidFill>
                <a:latin typeface="Arial Rounded MT Bold" panose="020F0704030504030204" pitchFamily="34" charset="0"/>
                <a:cs typeface="Cascadia Code SemiBold" panose="020B0609020000020004" pitchFamily="49" charset="0"/>
              </a:rPr>
              <a:t>Concentrix</a:t>
            </a:r>
            <a:r>
              <a:rPr lang="fr-FR" sz="2400" dirty="0">
                <a:solidFill>
                  <a:srgbClr val="007380"/>
                </a:solidFill>
                <a:latin typeface="Arial Rounded MT Bold" panose="020F0704030504030204" pitchFamily="34" charset="0"/>
                <a:cs typeface="Cascadia Code SemiBold" panose="020B0609020000020004" pitchFamily="49" charset="0"/>
              </a:rPr>
              <a:t> à Madagascar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Titan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Bêtiment</a:t>
            </a: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Titan II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Andraharo</a:t>
            </a: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– 101, Antananarivo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Tanashore</a:t>
            </a:r>
            <a:endParaRPr lang="fr-FR" sz="20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Bâtiment TANASHORE, zone FUTURA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Andranomena</a:t>
            </a: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– 101, Antananarivo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Zital</a:t>
            </a:r>
            <a:endParaRPr lang="fr-FR" sz="20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Bâtiment </a:t>
            </a:r>
            <a:r>
              <a:rPr lang="fr-FR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Zital</a:t>
            </a: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, Tana Water Front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Ankorondrano</a:t>
            </a: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– 101, Antananarivo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LeCube</a:t>
            </a:r>
            <a:endParaRPr lang="fr-FR" sz="20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Bâtiment </a:t>
            </a:r>
            <a:r>
              <a:rPr lang="fr-FR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LeCube</a:t>
            </a:r>
            <a:endParaRPr lang="fr-FR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Betainomby</a:t>
            </a: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– 501, Toamasina</a:t>
            </a:r>
          </a:p>
        </p:txBody>
      </p:sp>
    </p:spTree>
    <p:extLst>
      <p:ext uri="{BB962C8B-B14F-4D97-AF65-F5344CB8AC3E}">
        <p14:creationId xmlns:p14="http://schemas.microsoft.com/office/powerpoint/2010/main" val="31504799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58F404F-171B-4585-A5A3-E60599C850F2}"/>
              </a:ext>
            </a:extLst>
          </p:cNvPr>
          <p:cNvSpPr/>
          <p:nvPr/>
        </p:nvSpPr>
        <p:spPr>
          <a:xfrm rot="8100000">
            <a:off x="1618565" y="6379929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003D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>
              <a:solidFill>
                <a:srgbClr val="003D5B"/>
              </a:solidFill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8891A65C-5805-4CF3-B35D-CE7DC6D8D8F8}"/>
              </a:ext>
            </a:extLst>
          </p:cNvPr>
          <p:cNvSpPr/>
          <p:nvPr/>
        </p:nvSpPr>
        <p:spPr>
          <a:xfrm rot="8100000">
            <a:off x="10078153" y="103704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003D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>
              <a:solidFill>
                <a:srgbClr val="003D5B"/>
              </a:solidFill>
            </a:endParaRP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D7BBC166-119C-4030-94BD-56CB49DE1E9A}"/>
              </a:ext>
            </a:extLst>
          </p:cNvPr>
          <p:cNvSpPr/>
          <p:nvPr/>
        </p:nvSpPr>
        <p:spPr>
          <a:xfrm rot="8100000">
            <a:off x="-2681021" y="-559625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003D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>
              <a:solidFill>
                <a:srgbClr val="003D5B"/>
              </a:solidFill>
            </a:endParaRPr>
          </a:p>
        </p:txBody>
      </p:sp>
      <p:sp>
        <p:nvSpPr>
          <p:cNvPr id="67" name="Rectangle : coins arrondis 66">
            <a:extLst>
              <a:ext uri="{FF2B5EF4-FFF2-40B4-BE49-F238E27FC236}">
                <a16:creationId xmlns:a16="http://schemas.microsoft.com/office/drawing/2014/main" id="{323EF328-205E-4E36-86CC-BEE2DB1378FB}"/>
              </a:ext>
            </a:extLst>
          </p:cNvPr>
          <p:cNvSpPr/>
          <p:nvPr/>
        </p:nvSpPr>
        <p:spPr>
          <a:xfrm>
            <a:off x="634800" y="665488"/>
            <a:ext cx="10922400" cy="5454000"/>
          </a:xfrm>
          <a:prstGeom prst="roundRect">
            <a:avLst>
              <a:gd name="adj" fmla="val 11431"/>
            </a:avLst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DB045655-CC33-43E1-8319-E6B54D37C7E1}"/>
              </a:ext>
            </a:extLst>
          </p:cNvPr>
          <p:cNvGrpSpPr/>
          <p:nvPr/>
        </p:nvGrpSpPr>
        <p:grpSpPr>
          <a:xfrm>
            <a:off x="12623424" y="2386710"/>
            <a:ext cx="2628900" cy="3131939"/>
            <a:chOff x="1930400" y="2984500"/>
            <a:chExt cx="2628900" cy="3131939"/>
          </a:xfrm>
        </p:grpSpPr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E08DD89E-A84A-49D4-8369-B48B3F47A1CE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4B624098-2D3D-4DEB-9937-7C70FBC5A8DF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1956F612-FE40-44D0-A12D-7C170341E81B}"/>
                </a:ext>
              </a:extLst>
            </p:cNvPr>
            <p:cNvSpPr txBox="1"/>
            <p:nvPr/>
          </p:nvSpPr>
          <p:spPr>
            <a:xfrm>
              <a:off x="1930400" y="3334943"/>
              <a:ext cx="2628900" cy="19082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Choix de méthodologie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A6BF3C5E-D00F-4574-A3BC-7215886E2F38}"/>
              </a:ext>
            </a:extLst>
          </p:cNvPr>
          <p:cNvGrpSpPr/>
          <p:nvPr/>
        </p:nvGrpSpPr>
        <p:grpSpPr>
          <a:xfrm>
            <a:off x="15468350" y="2384351"/>
            <a:ext cx="2628900" cy="3131939"/>
            <a:chOff x="2801472" y="7038228"/>
            <a:chExt cx="2628900" cy="3131939"/>
          </a:xfrm>
        </p:grpSpPr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C8F01AAB-A968-4375-90A8-7E26447625AC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6" name="Rectangle : coins arrondis 75">
              <a:extLst>
                <a:ext uri="{FF2B5EF4-FFF2-40B4-BE49-F238E27FC236}">
                  <a16:creationId xmlns:a16="http://schemas.microsoft.com/office/drawing/2014/main" id="{C641E5C2-3F78-4843-BF02-051C5B9CAC8E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185AD061-E118-43FA-898A-0BD4ACAC2270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Démonstration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EFDCF478-5D1E-4ED0-8DDF-FE2D560E5532}"/>
              </a:ext>
            </a:extLst>
          </p:cNvPr>
          <p:cNvSpPr/>
          <p:nvPr/>
        </p:nvSpPr>
        <p:spPr>
          <a:xfrm>
            <a:off x="3310657" y="2031178"/>
            <a:ext cx="7503243" cy="280015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37D788E-6A7C-45F1-9D98-AAB5EBA7D7F7}"/>
              </a:ext>
            </a:extLst>
          </p:cNvPr>
          <p:cNvSpPr txBox="1"/>
          <p:nvPr/>
        </p:nvSpPr>
        <p:spPr>
          <a:xfrm>
            <a:off x="4383603" y="2949393"/>
            <a:ext cx="5408782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5400" dirty="0">
                <a:solidFill>
                  <a:srgbClr val="003D5B"/>
                </a:solidFill>
                <a:latin typeface="Arial Rounded MT Bold" panose="020F0704030504030204" pitchFamily="34" charset="0"/>
                <a:cs typeface="Cascadia Code" panose="020B0609020000020004" pitchFamily="49" charset="0"/>
              </a:rPr>
              <a:t>Analyse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ED96C2F-A0BD-4B0C-B722-64808A2D862A}"/>
              </a:ext>
            </a:extLst>
          </p:cNvPr>
          <p:cNvSpPr txBox="1"/>
          <p:nvPr/>
        </p:nvSpPr>
        <p:spPr>
          <a:xfrm>
            <a:off x="1138139" y="2484998"/>
            <a:ext cx="17955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02</a:t>
            </a:r>
            <a:endParaRPr lang="fr-MG" sz="10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6162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5787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58F404F-171B-4585-A5A3-E60599C850F2}"/>
              </a:ext>
            </a:extLst>
          </p:cNvPr>
          <p:cNvSpPr/>
          <p:nvPr/>
        </p:nvSpPr>
        <p:spPr>
          <a:xfrm rot="8100000">
            <a:off x="1618565" y="6379929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>
              <a:solidFill>
                <a:srgbClr val="003D5B"/>
              </a:solidFill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8891A65C-5805-4CF3-B35D-CE7DC6D8D8F8}"/>
              </a:ext>
            </a:extLst>
          </p:cNvPr>
          <p:cNvSpPr/>
          <p:nvPr/>
        </p:nvSpPr>
        <p:spPr>
          <a:xfrm rot="8100000">
            <a:off x="10078153" y="103704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>
              <a:solidFill>
                <a:srgbClr val="003D5B"/>
              </a:solidFill>
            </a:endParaRP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D7BBC166-119C-4030-94BD-56CB49DE1E9A}"/>
              </a:ext>
            </a:extLst>
          </p:cNvPr>
          <p:cNvSpPr/>
          <p:nvPr/>
        </p:nvSpPr>
        <p:spPr>
          <a:xfrm rot="8100000">
            <a:off x="-2681021" y="-559625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>
              <a:solidFill>
                <a:srgbClr val="003D5B"/>
              </a:solidFill>
            </a:endParaRPr>
          </a:p>
        </p:txBody>
      </p:sp>
      <p:sp>
        <p:nvSpPr>
          <p:cNvPr id="67" name="Rectangle : coins arrondis 66">
            <a:extLst>
              <a:ext uri="{FF2B5EF4-FFF2-40B4-BE49-F238E27FC236}">
                <a16:creationId xmlns:a16="http://schemas.microsoft.com/office/drawing/2014/main" id="{323EF328-205E-4E36-86CC-BEE2DB1378FB}"/>
              </a:ext>
            </a:extLst>
          </p:cNvPr>
          <p:cNvSpPr/>
          <p:nvPr/>
        </p:nvSpPr>
        <p:spPr>
          <a:xfrm>
            <a:off x="634800" y="665488"/>
            <a:ext cx="10922400" cy="5454000"/>
          </a:xfrm>
          <a:prstGeom prst="roundRect">
            <a:avLst>
              <a:gd name="adj" fmla="val 11431"/>
            </a:avLst>
          </a:prstGeom>
          <a:solidFill>
            <a:srgbClr val="0073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A6BF3C5E-D00F-4574-A3BC-7215886E2F38}"/>
              </a:ext>
            </a:extLst>
          </p:cNvPr>
          <p:cNvGrpSpPr/>
          <p:nvPr/>
        </p:nvGrpSpPr>
        <p:grpSpPr>
          <a:xfrm>
            <a:off x="12394950" y="2384351"/>
            <a:ext cx="2628900" cy="3131939"/>
            <a:chOff x="2801472" y="7038228"/>
            <a:chExt cx="2628900" cy="3131939"/>
          </a:xfrm>
        </p:grpSpPr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C8F01AAB-A968-4375-90A8-7E26447625AC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6" name="Rectangle : coins arrondis 75">
              <a:extLst>
                <a:ext uri="{FF2B5EF4-FFF2-40B4-BE49-F238E27FC236}">
                  <a16:creationId xmlns:a16="http://schemas.microsoft.com/office/drawing/2014/main" id="{C641E5C2-3F78-4843-BF02-051C5B9CAC8E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185AD061-E118-43FA-898A-0BD4ACAC2270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Démonstration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EFDCF478-5D1E-4ED0-8DDF-FE2D560E5532}"/>
              </a:ext>
            </a:extLst>
          </p:cNvPr>
          <p:cNvSpPr/>
          <p:nvPr/>
        </p:nvSpPr>
        <p:spPr>
          <a:xfrm>
            <a:off x="3310657" y="2031178"/>
            <a:ext cx="7503243" cy="280015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37D788E-6A7C-45F1-9D98-AAB5EBA7D7F7}"/>
              </a:ext>
            </a:extLst>
          </p:cNvPr>
          <p:cNvSpPr txBox="1"/>
          <p:nvPr/>
        </p:nvSpPr>
        <p:spPr>
          <a:xfrm>
            <a:off x="4383603" y="2949393"/>
            <a:ext cx="5408782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5400" dirty="0">
                <a:solidFill>
                  <a:srgbClr val="003D5B"/>
                </a:solidFill>
                <a:latin typeface="Arial Rounded MT Bold" panose="020F0704030504030204" pitchFamily="34" charset="0"/>
                <a:cs typeface="Cascadia Code" panose="020B0609020000020004" pitchFamily="49" charset="0"/>
              </a:rPr>
              <a:t>Conception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ED96C2F-A0BD-4B0C-B722-64808A2D862A}"/>
              </a:ext>
            </a:extLst>
          </p:cNvPr>
          <p:cNvSpPr txBox="1"/>
          <p:nvPr/>
        </p:nvSpPr>
        <p:spPr>
          <a:xfrm>
            <a:off x="1138139" y="2484998"/>
            <a:ext cx="17955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03</a:t>
            </a:r>
            <a:endParaRPr lang="fr-MG" sz="10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6261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89741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58F404F-171B-4585-A5A3-E60599C850F2}"/>
              </a:ext>
            </a:extLst>
          </p:cNvPr>
          <p:cNvSpPr/>
          <p:nvPr/>
        </p:nvSpPr>
        <p:spPr>
          <a:xfrm rot="8100000">
            <a:off x="1618565" y="6379929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003D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>
              <a:solidFill>
                <a:srgbClr val="003D5B"/>
              </a:solidFill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8891A65C-5805-4CF3-B35D-CE7DC6D8D8F8}"/>
              </a:ext>
            </a:extLst>
          </p:cNvPr>
          <p:cNvSpPr/>
          <p:nvPr/>
        </p:nvSpPr>
        <p:spPr>
          <a:xfrm rot="8100000">
            <a:off x="10078153" y="103704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003D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>
              <a:solidFill>
                <a:srgbClr val="003D5B"/>
              </a:solidFill>
            </a:endParaRP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D7BBC166-119C-4030-94BD-56CB49DE1E9A}"/>
              </a:ext>
            </a:extLst>
          </p:cNvPr>
          <p:cNvSpPr/>
          <p:nvPr/>
        </p:nvSpPr>
        <p:spPr>
          <a:xfrm rot="8100000">
            <a:off x="-2681021" y="-559625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003D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>
              <a:solidFill>
                <a:srgbClr val="003D5B"/>
              </a:solidFill>
            </a:endParaRPr>
          </a:p>
        </p:txBody>
      </p:sp>
      <p:sp>
        <p:nvSpPr>
          <p:cNvPr id="67" name="Rectangle : coins arrondis 66">
            <a:extLst>
              <a:ext uri="{FF2B5EF4-FFF2-40B4-BE49-F238E27FC236}">
                <a16:creationId xmlns:a16="http://schemas.microsoft.com/office/drawing/2014/main" id="{323EF328-205E-4E36-86CC-BEE2DB1378FB}"/>
              </a:ext>
            </a:extLst>
          </p:cNvPr>
          <p:cNvSpPr/>
          <p:nvPr/>
        </p:nvSpPr>
        <p:spPr>
          <a:xfrm>
            <a:off x="634800" y="665488"/>
            <a:ext cx="10922400" cy="5454000"/>
          </a:xfrm>
          <a:prstGeom prst="roundRect">
            <a:avLst>
              <a:gd name="adj" fmla="val 11431"/>
            </a:avLst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EFDCF478-5D1E-4ED0-8DDF-FE2D560E5532}"/>
              </a:ext>
            </a:extLst>
          </p:cNvPr>
          <p:cNvSpPr/>
          <p:nvPr/>
        </p:nvSpPr>
        <p:spPr>
          <a:xfrm>
            <a:off x="3310657" y="2031178"/>
            <a:ext cx="7503243" cy="280015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37D788E-6A7C-45F1-9D98-AAB5EBA7D7F7}"/>
              </a:ext>
            </a:extLst>
          </p:cNvPr>
          <p:cNvSpPr txBox="1"/>
          <p:nvPr/>
        </p:nvSpPr>
        <p:spPr>
          <a:xfrm>
            <a:off x="4383603" y="2949393"/>
            <a:ext cx="5408782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5400" dirty="0">
                <a:solidFill>
                  <a:srgbClr val="003D5B"/>
                </a:solidFill>
                <a:latin typeface="Arial Rounded MT Bold" panose="020F0704030504030204" pitchFamily="34" charset="0"/>
                <a:cs typeface="Cascadia Code" panose="020B0609020000020004" pitchFamily="49" charset="0"/>
              </a:rPr>
              <a:t>Réalisation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ED96C2F-A0BD-4B0C-B722-64808A2D862A}"/>
              </a:ext>
            </a:extLst>
          </p:cNvPr>
          <p:cNvSpPr txBox="1"/>
          <p:nvPr/>
        </p:nvSpPr>
        <p:spPr>
          <a:xfrm>
            <a:off x="1138139" y="2484998"/>
            <a:ext cx="17955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04</a:t>
            </a:r>
            <a:endParaRPr lang="fr-MG" sz="10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7546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3465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F8A96B4-B071-435A-901B-B38ABD02538E}"/>
              </a:ext>
            </a:extLst>
          </p:cNvPr>
          <p:cNvSpPr/>
          <p:nvPr/>
        </p:nvSpPr>
        <p:spPr>
          <a:xfrm rot="8100000" flipH="1">
            <a:off x="3459014" y="4552564"/>
            <a:ext cx="9288000" cy="3564000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CFE5A9E-EDAB-4D61-839A-7ECA46D9AFB0}"/>
              </a:ext>
            </a:extLst>
          </p:cNvPr>
          <p:cNvSpPr/>
          <p:nvPr/>
        </p:nvSpPr>
        <p:spPr>
          <a:xfrm>
            <a:off x="262216" y="5454802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95FC7776-5663-4265-B9F4-9F488A03F89B}"/>
              </a:ext>
            </a:extLst>
          </p:cNvPr>
          <p:cNvSpPr/>
          <p:nvPr/>
        </p:nvSpPr>
        <p:spPr>
          <a:xfrm>
            <a:off x="982216" y="6334564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BDCA73D4-2036-4E13-AC01-5E97A2E5BA50}"/>
              </a:ext>
            </a:extLst>
          </p:cNvPr>
          <p:cNvSpPr/>
          <p:nvPr/>
        </p:nvSpPr>
        <p:spPr>
          <a:xfrm rot="8100000" flipH="1">
            <a:off x="6079555" y="-800011"/>
            <a:ext cx="9288000" cy="3960000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DF2E3A81-6159-4720-AC20-D2C9140128C4}"/>
              </a:ext>
            </a:extLst>
          </p:cNvPr>
          <p:cNvSpPr/>
          <p:nvPr/>
        </p:nvSpPr>
        <p:spPr>
          <a:xfrm>
            <a:off x="7513319" y="3575267"/>
            <a:ext cx="4029889" cy="79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442162F-DC9A-47B5-A48E-401E3BB975F7}"/>
              </a:ext>
            </a:extLst>
          </p:cNvPr>
          <p:cNvSpPr/>
          <p:nvPr/>
        </p:nvSpPr>
        <p:spPr>
          <a:xfrm>
            <a:off x="8103014" y="334905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F073437-AB73-424B-8B1A-1C53AF849347}"/>
              </a:ext>
            </a:extLst>
          </p:cNvPr>
          <p:cNvSpPr/>
          <p:nvPr/>
        </p:nvSpPr>
        <p:spPr>
          <a:xfrm>
            <a:off x="7634060" y="1174496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009137E-1B2A-40F0-8335-E4D0DCD5A5AD}"/>
              </a:ext>
            </a:extLst>
          </p:cNvPr>
          <p:cNvSpPr txBox="1"/>
          <p:nvPr/>
        </p:nvSpPr>
        <p:spPr>
          <a:xfrm>
            <a:off x="7499911" y="3617324"/>
            <a:ext cx="4029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Conclusion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7686CB0C-0E8A-4AA7-B734-081A0F87708B}"/>
              </a:ext>
            </a:extLst>
          </p:cNvPr>
          <p:cNvSpPr/>
          <p:nvPr/>
        </p:nvSpPr>
        <p:spPr>
          <a:xfrm>
            <a:off x="11799938" y="5070548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F6CFB084-3F6A-4783-975C-A8AD69F24221}"/>
              </a:ext>
            </a:extLst>
          </p:cNvPr>
          <p:cNvSpPr/>
          <p:nvPr/>
        </p:nvSpPr>
        <p:spPr>
          <a:xfrm>
            <a:off x="10513823" y="5921999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1BB72B7-BC21-42E5-B892-F00A706CA903}"/>
              </a:ext>
            </a:extLst>
          </p:cNvPr>
          <p:cNvSpPr txBox="1"/>
          <p:nvPr/>
        </p:nvSpPr>
        <p:spPr>
          <a:xfrm>
            <a:off x="426574" y="1861519"/>
            <a:ext cx="689559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/>
              <a:t>Ce projet a permis d’améliorer la gestion et le suivi du parc informatique chez </a:t>
            </a:r>
            <a:r>
              <a:rPr lang="fr-FR" sz="2400" dirty="0" err="1"/>
              <a:t>Concentrix</a:t>
            </a:r>
            <a:r>
              <a:rPr lang="fr-FR" sz="2400" dirty="0"/>
              <a:t>, en centralisant les données et en organisant mieux les informations. Il a contribué à réduire les erreurs liées aux méthodes manuelles et répond aux besoins des différents acteurs. Des perspectives d’évolution existent, notamment pour enrichir l’application avec de nouvelles fonctionnalités et étendre son déploiement.</a:t>
            </a:r>
            <a:endParaRPr lang="fr-MG" sz="2400" dirty="0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A0E99B51-104B-42BC-B996-D7948FFE5428}"/>
              </a:ext>
            </a:extLst>
          </p:cNvPr>
          <p:cNvSpPr/>
          <p:nvPr/>
        </p:nvSpPr>
        <p:spPr>
          <a:xfrm>
            <a:off x="862180" y="5570923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4B6435DF-1A52-4CDD-A24C-A8C8A05777BA}"/>
              </a:ext>
            </a:extLst>
          </p:cNvPr>
          <p:cNvSpPr/>
          <p:nvPr/>
        </p:nvSpPr>
        <p:spPr>
          <a:xfrm>
            <a:off x="7814060" y="-121394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8A5EAAF5-BDE7-4B34-9187-43C93B1022D4}"/>
              </a:ext>
            </a:extLst>
          </p:cNvPr>
          <p:cNvSpPr/>
          <p:nvPr/>
        </p:nvSpPr>
        <p:spPr>
          <a:xfrm>
            <a:off x="10723555" y="6201996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723653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BDCA73D4-2036-4E13-AC01-5E97A2E5BA50}"/>
              </a:ext>
            </a:extLst>
          </p:cNvPr>
          <p:cNvSpPr/>
          <p:nvPr/>
        </p:nvSpPr>
        <p:spPr>
          <a:xfrm flipH="1">
            <a:off x="7123555" y="3258000"/>
            <a:ext cx="7200000" cy="7200000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F073437-AB73-424B-8B1A-1C53AF849347}"/>
              </a:ext>
            </a:extLst>
          </p:cNvPr>
          <p:cNvSpPr/>
          <p:nvPr/>
        </p:nvSpPr>
        <p:spPr>
          <a:xfrm>
            <a:off x="7532460" y="3007703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7686CB0C-0E8A-4AA7-B734-081A0F87708B}"/>
              </a:ext>
            </a:extLst>
          </p:cNvPr>
          <p:cNvSpPr/>
          <p:nvPr/>
        </p:nvSpPr>
        <p:spPr>
          <a:xfrm>
            <a:off x="4168993" y="6658048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F6CFB084-3F6A-4783-975C-A8AD69F24221}"/>
              </a:ext>
            </a:extLst>
          </p:cNvPr>
          <p:cNvSpPr/>
          <p:nvPr/>
        </p:nvSpPr>
        <p:spPr>
          <a:xfrm>
            <a:off x="6745230" y="5882595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A0E99B51-104B-42BC-B996-D7948FFE5428}"/>
              </a:ext>
            </a:extLst>
          </p:cNvPr>
          <p:cNvSpPr/>
          <p:nvPr/>
        </p:nvSpPr>
        <p:spPr>
          <a:xfrm>
            <a:off x="892216" y="0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4B6435DF-1A52-4CDD-A24C-A8C8A05777BA}"/>
              </a:ext>
            </a:extLst>
          </p:cNvPr>
          <p:cNvSpPr/>
          <p:nvPr/>
        </p:nvSpPr>
        <p:spPr>
          <a:xfrm>
            <a:off x="8151420" y="1202210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8A5EAAF5-BDE7-4B34-9187-43C93B1022D4}"/>
              </a:ext>
            </a:extLst>
          </p:cNvPr>
          <p:cNvSpPr/>
          <p:nvPr/>
        </p:nvSpPr>
        <p:spPr>
          <a:xfrm>
            <a:off x="3988993" y="6498000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68573767-147D-469A-B717-F8EC64DCF59B}"/>
              </a:ext>
            </a:extLst>
          </p:cNvPr>
          <p:cNvGrpSpPr/>
          <p:nvPr/>
        </p:nvGrpSpPr>
        <p:grpSpPr>
          <a:xfrm>
            <a:off x="-1414970" y="517105"/>
            <a:ext cx="8457800" cy="2420300"/>
            <a:chOff x="-1414970" y="517105"/>
            <a:chExt cx="8457800" cy="2420300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6F8A96B4-B071-435A-901B-B38ABD02538E}"/>
                </a:ext>
              </a:extLst>
            </p:cNvPr>
            <p:cNvSpPr/>
            <p:nvPr/>
          </p:nvSpPr>
          <p:spPr>
            <a:xfrm flipH="1">
              <a:off x="-1414970" y="694905"/>
              <a:ext cx="8280000" cy="2052000"/>
            </a:xfrm>
            <a:prstGeom prst="roundRect">
              <a:avLst>
                <a:gd name="adj" fmla="val 50000"/>
              </a:avLst>
            </a:prstGeom>
            <a:solidFill>
              <a:srgbClr val="25E2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EDCD49C0-68BD-4F7C-AFDF-AA6197C546FD}"/>
                </a:ext>
              </a:extLst>
            </p:cNvPr>
            <p:cNvSpPr/>
            <p:nvPr/>
          </p:nvSpPr>
          <p:spPr>
            <a:xfrm flipH="1">
              <a:off x="-1237170" y="885405"/>
              <a:ext cx="8280000" cy="2052000"/>
            </a:xfrm>
            <a:prstGeom prst="roundRect">
              <a:avLst>
                <a:gd name="adj" fmla="val 50000"/>
              </a:avLst>
            </a:prstGeom>
            <a:solidFill>
              <a:srgbClr val="25E2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7B87A33C-E750-4742-BC6F-855BCF242C02}"/>
                </a:ext>
              </a:extLst>
            </p:cNvPr>
            <p:cNvSpPr/>
            <p:nvPr/>
          </p:nvSpPr>
          <p:spPr>
            <a:xfrm flipH="1">
              <a:off x="-1249870" y="517105"/>
              <a:ext cx="8280000" cy="2052000"/>
            </a:xfrm>
            <a:prstGeom prst="roundRect">
              <a:avLst>
                <a:gd name="adj" fmla="val 50000"/>
              </a:avLst>
            </a:prstGeom>
            <a:solidFill>
              <a:srgbClr val="25E2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2009137E-1B2A-40F0-8335-E4D0DCD5A5AD}"/>
              </a:ext>
            </a:extLst>
          </p:cNvPr>
          <p:cNvSpPr txBox="1"/>
          <p:nvPr/>
        </p:nvSpPr>
        <p:spPr>
          <a:xfrm>
            <a:off x="64120" y="1074186"/>
            <a:ext cx="634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chemeClr val="bg1"/>
                </a:solidFill>
                <a:latin typeface="Arial Rounded MT Bold" panose="020F0704030504030204" pitchFamily="34" charset="0"/>
                <a:cs typeface="Cascadia Code" panose="020B0609020000020004" pitchFamily="49" charset="0"/>
              </a:rPr>
              <a:t>Merci pour votre attention</a:t>
            </a:r>
            <a:endParaRPr lang="fr-MG" sz="4000" dirty="0">
              <a:solidFill>
                <a:schemeClr val="bg1"/>
              </a:solidFill>
              <a:latin typeface="Arial Rounded MT Bold" panose="020F0704030504030204" pitchFamily="34" charset="0"/>
              <a:cs typeface="Cascadia Code" panose="020B0609020000020004" pitchFamily="49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95FC7776-5663-4265-B9F4-9F488A03F89B}"/>
              </a:ext>
            </a:extLst>
          </p:cNvPr>
          <p:cNvSpPr/>
          <p:nvPr/>
        </p:nvSpPr>
        <p:spPr>
          <a:xfrm>
            <a:off x="3484116" y="883686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442162F-DC9A-47B5-A48E-401E3BB975F7}"/>
              </a:ext>
            </a:extLst>
          </p:cNvPr>
          <p:cNvSpPr/>
          <p:nvPr/>
        </p:nvSpPr>
        <p:spPr>
          <a:xfrm>
            <a:off x="6475230" y="2217405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CFE5A9E-EDAB-4D61-839A-7ECA46D9AFB0}"/>
              </a:ext>
            </a:extLst>
          </p:cNvPr>
          <p:cNvSpPr/>
          <p:nvPr/>
        </p:nvSpPr>
        <p:spPr>
          <a:xfrm>
            <a:off x="982216" y="58606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7089916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932</Words>
  <Application>Microsoft Office PowerPoint</Application>
  <PresentationFormat>Grand écran</PresentationFormat>
  <Paragraphs>386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4" baseType="lpstr">
      <vt:lpstr>Arial</vt:lpstr>
      <vt:lpstr>Arial Rounded MT Bold</vt:lpstr>
      <vt:lpstr>Calibri</vt:lpstr>
      <vt:lpstr>Calibri Light</vt:lpstr>
      <vt:lpstr>Cascadia Code</vt:lpstr>
      <vt:lpstr>Cascadia Code Light</vt:lpstr>
      <vt:lpstr>Cascadia Code SemiBold</vt:lpstr>
      <vt:lpstr>Courier New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Fitiavana Rakotosamimanana</dc:creator>
  <cp:lastModifiedBy>Fitiavana Rakotosamimanana</cp:lastModifiedBy>
  <cp:revision>4</cp:revision>
  <dcterms:created xsi:type="dcterms:W3CDTF">2026-01-14T17:38:34Z</dcterms:created>
  <dcterms:modified xsi:type="dcterms:W3CDTF">2026-01-14T23:48:19Z</dcterms:modified>
</cp:coreProperties>
</file>